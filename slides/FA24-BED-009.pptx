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68a2b7ba6942aa" /><Relationship Type="http://schemas.openxmlformats.org/officeDocument/2006/relationships/extended-properties" Target="/docProps/app.xml" Id="Re0e1df43e3674667" /><Relationship Type="http://schemas.openxmlformats.org/officeDocument/2006/relationships/officeDocument" Target="/ppt/presentation.xml" Id="R3848077df79445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2ff3787454a0e"/>
  </p:sldMasterIdLst>
  <p:notesMasterIdLst>
    <p:notesMasterId xmlns:r="http://schemas.openxmlformats.org/officeDocument/2006/relationships" r:id="R4a5c7292880d4537"/>
  </p:notesMasterIdLst>
  <p:sldIdLst>
    <p:sldId xmlns:r="http://schemas.openxmlformats.org/officeDocument/2006/relationships" id="256" r:id="R87a4f337e7a04396"/>
    <p:sldId xmlns:r="http://schemas.openxmlformats.org/officeDocument/2006/relationships" id="257" r:id="Rf3fcf5287bc045a1"/>
    <p:sldId xmlns:r="http://schemas.openxmlformats.org/officeDocument/2006/relationships" id="258" r:id="R4788a9a086754f68"/>
    <p:sldId xmlns:r="http://schemas.openxmlformats.org/officeDocument/2006/relationships" id="259" r:id="R7f2427d310454cd3"/>
    <p:sldId xmlns:r="http://schemas.openxmlformats.org/officeDocument/2006/relationships" id="260" r:id="R8b647fac9d4f42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68bae23eb2486a" /><Relationship Type="http://schemas.openxmlformats.org/officeDocument/2006/relationships/slideMaster" Target="/ppt/slideMasters/slideMaster1.xml" Id="R3712ff3787454a0e" /><Relationship Type="http://schemas.openxmlformats.org/officeDocument/2006/relationships/notesMaster" Target="/ppt/notesMasters/notesMaster1.xml" Id="R4a5c7292880d4537" /><Relationship Type="http://schemas.openxmlformats.org/officeDocument/2006/relationships/presProps" Target="/ppt/presProps.xml" Id="Ra86b80b4dcef4dfc" /><Relationship Type="http://schemas.openxmlformats.org/officeDocument/2006/relationships/tableStyles" Target="/ppt/tableStyles.xml" Id="Ra9ac1680b4e445b6" /><Relationship Type="http://schemas.openxmlformats.org/officeDocument/2006/relationships/slide" Target="/ppt/slides/slide1.xml" Id="R87a4f337e7a04396" /><Relationship Type="http://schemas.openxmlformats.org/officeDocument/2006/relationships/slide" Target="/ppt/slides/slide2.xml" Id="Rf3fcf5287bc045a1" /><Relationship Type="http://schemas.openxmlformats.org/officeDocument/2006/relationships/slide" Target="/ppt/slides/slide3.xml" Id="R4788a9a086754f68" /><Relationship Type="http://schemas.openxmlformats.org/officeDocument/2006/relationships/slide" Target="/ppt/slides/slide4.xml" Id="R7f2427d310454cd3" /><Relationship Type="http://schemas.openxmlformats.org/officeDocument/2006/relationships/slide" Target="/ppt/slides/slide5.xml" Id="R8b647fac9d4f42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69868a02214c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8e9eeedcb34078" /><Relationship Type="http://schemas.openxmlformats.org/officeDocument/2006/relationships/notesMaster" Target="/ppt/notesMasters/notesMaster1.xml" Id="R892cc7587afb42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e83612e264406e" /><Relationship Type="http://schemas.openxmlformats.org/officeDocument/2006/relationships/notesMaster" Target="/ppt/notesMasters/notesMaster1.xml" Id="R2eb01486e71449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06dd824ce34879" /><Relationship Type="http://schemas.openxmlformats.org/officeDocument/2006/relationships/notesMaster" Target="/ppt/notesMasters/notesMaster1.xml" Id="Ree71afe5697e42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1ae6345c7a49d1" /><Relationship Type="http://schemas.openxmlformats.org/officeDocument/2006/relationships/notesMaster" Target="/ppt/notesMasters/notesMaster1.xml" Id="R945cbbf62cab4e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94fc458ea64741" /><Relationship Type="http://schemas.openxmlformats.org/officeDocument/2006/relationships/notesMaster" Target="/ppt/notesMasters/notesMaster1.xml" Id="Rd0d07c77233848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4a6d6125b49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5196561c342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dbd771ac24a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a598596794f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8b87783f84d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0cba7f1e84d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1650A3-6493-44AB-84BE-822C2ECFE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7EEB35-C5BE-4B51-9F4A-83B5275F83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1547A0-741C-411C-A7FD-7058D061D3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7F4B67-7B75-43DB-919E-A1A3A90031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E6592A-D105-4FFC-ADC7-300EF6E933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4BC1E8-2E00-4D4E-9287-098962DA76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3B4C47-DEA9-41BD-BA31-392C0A6078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94DCC7-1A68-4D61-BC4B-6663613321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20EE89-2633-4612-8784-8FA1207774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2A9C82-6A04-4221-A430-D416D3C644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8bd55e2908418e" /><Relationship Type="http://schemas.openxmlformats.org/officeDocument/2006/relationships/slideLayout" Target="/ppt/slideLayouts/slideLayout1.xml" Id="Rddae29670fec44b3" /><Relationship Type="http://schemas.openxmlformats.org/officeDocument/2006/relationships/slideLayout" Target="/ppt/slideLayouts/slideLayout2.xml" Id="Ra0645be7fb674c56" /><Relationship Type="http://schemas.openxmlformats.org/officeDocument/2006/relationships/slideLayout" Target="/ppt/slideLayouts/slideLayout3.xml" Id="Rf70bb6d9831a40c3" /><Relationship Type="http://schemas.openxmlformats.org/officeDocument/2006/relationships/slideLayout" Target="/ppt/slideLayouts/slideLayout4.xml" Id="R40cc6b95de604c41" /><Relationship Type="http://schemas.openxmlformats.org/officeDocument/2006/relationships/slideLayout" Target="/ppt/slideLayouts/slideLayout5.xml" Id="R83f58218aa384049" /><Relationship Type="http://schemas.openxmlformats.org/officeDocument/2006/relationships/slideLayout" Target="/ppt/slideLayouts/slideLayout6.xml" Id="R30da696670834d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ae29670fec44b3"/>
    <p:sldLayoutId xmlns:r="http://schemas.openxmlformats.org/officeDocument/2006/relationships" id="2147483650" r:id="Ra0645be7fb674c56"/>
    <p:sldLayoutId xmlns:r="http://schemas.openxmlformats.org/officeDocument/2006/relationships" id="2147483651" r:id="Rf70bb6d9831a40c3"/>
    <p:sldLayoutId xmlns:r="http://schemas.openxmlformats.org/officeDocument/2006/relationships" id="2147483652" r:id="R40cc6b95de604c41"/>
    <p:sldLayoutId xmlns:r="http://schemas.openxmlformats.org/officeDocument/2006/relationships" id="2147483653" r:id="R83f58218aa384049"/>
    <p:sldLayoutId xmlns:r="http://schemas.openxmlformats.org/officeDocument/2006/relationships" id="2147483654" r:id="R30da696670834d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20f9201c14f77" /><Relationship Type="http://schemas.openxmlformats.org/officeDocument/2006/relationships/notesSlide" Target="/ppt/notesSlides/notesSlide1.xml" Id="R7de5656dd1b14b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38ae1214dd48b8" /><Relationship Type="http://schemas.openxmlformats.org/officeDocument/2006/relationships/notesSlide" Target="/ppt/notesSlides/notesSlide2.xml" Id="R2665518d85614e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8590a065649ed" /><Relationship Type="http://schemas.openxmlformats.org/officeDocument/2006/relationships/notesSlide" Target="/ppt/notesSlides/notesSlide3.xml" Id="Rc17ac3655bd840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61d7abfc94603" /><Relationship Type="http://schemas.openxmlformats.org/officeDocument/2006/relationships/notesSlide" Target="/ppt/notesSlides/notesSlide4.xml" Id="R4525ba54ab3f45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ce3401cef54a86" /><Relationship Type="http://schemas.openxmlformats.org/officeDocument/2006/relationships/notesSlide" Target="/ppt/notesSlides/notesSlide5.xml" Id="R694b43bc59a241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417E0-D06D-459B-9445-07E1014A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C0392B"/>
                </a:solidFill>
              </a:defRPr>
            </a:defPPr>
            <a:lvl1pPr>
              <a:defRPr sz="1800" b="1">
                <a:solidFill>
                  <a:srgbClr val="C0392B"/>
                </a:solidFill>
              </a:defRPr>
            </a:lvl1pPr>
            <a:lvl2pPr>
              <a:defRPr sz="1800" b="1">
                <a:solidFill>
                  <a:srgbClr val="C0392B"/>
                </a:solidFill>
              </a:defRPr>
            </a:lvl2pPr>
            <a:lvl3pPr>
              <a:defRPr sz="1800" b="1">
                <a:solidFill>
                  <a:srgbClr val="C0392B"/>
                </a:solidFill>
              </a:defRPr>
            </a:lvl3pPr>
            <a:lvl4pPr>
              <a:defRPr sz="1800" b="1">
                <a:solidFill>
                  <a:srgbClr val="C0392B"/>
                </a:solidFill>
              </a:defRPr>
            </a:lvl4pPr>
            <a:lvl5pPr>
              <a:defRPr sz="1800" b="1">
                <a:solidFill>
                  <a:srgbClr val="C0392B"/>
                </a:solidFill>
              </a:defRPr>
            </a:lvl5pPr>
            <a:lvl6pPr>
              <a:defRPr sz="1800" b="1">
                <a:solidFill>
                  <a:srgbClr val="C0392B"/>
                </a:solidFill>
              </a:defRPr>
            </a:lvl6pPr>
            <a:lvl7pPr>
              <a:defRPr sz="1800" b="1">
                <a:solidFill>
                  <a:srgbClr val="C0392B"/>
                </a:solidFill>
              </a:defRPr>
            </a:lvl7pPr>
            <a:lvl8pPr>
              <a:defRPr sz="1800" b="1">
                <a:solidFill>
                  <a:srgbClr val="C0392B"/>
                </a:solidFill>
              </a:defRPr>
            </a:lvl8pPr>
            <a:lvl9pPr>
              <a:defRPr sz="1800" b="1">
                <a:solidFill>
                  <a:srgbClr val="C0392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0392B"/>
                </a:solidFill>
              </a:defRPr>
            </a:pPr>
            <a:r>
              <a:rPr sz="1800" b="1">
                <a:solidFill>
                  <a:srgbClr val="C0392B"/>
                </a:solidFill>
              </a:rPr>
              <a:t>ECO346 · Assignment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2F052-4EB5-447B-ABEC-4E7FC865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72B4D"/>
                </a:solidFill>
              </a:defRPr>
            </a:defPPr>
            <a:lvl1pPr>
              <a:defRPr sz="4350" b="1">
                <a:solidFill>
                  <a:srgbClr val="172B4D"/>
                </a:solidFill>
              </a:defRPr>
            </a:lvl1pPr>
            <a:lvl2pPr>
              <a:defRPr sz="4350" b="1">
                <a:solidFill>
                  <a:srgbClr val="172B4D"/>
                </a:solidFill>
              </a:defRPr>
            </a:lvl2pPr>
            <a:lvl3pPr>
              <a:defRPr sz="4350" b="1">
                <a:solidFill>
                  <a:srgbClr val="172B4D"/>
                </a:solidFill>
              </a:defRPr>
            </a:lvl3pPr>
            <a:lvl4pPr>
              <a:defRPr sz="4350" b="1">
                <a:solidFill>
                  <a:srgbClr val="172B4D"/>
                </a:solidFill>
              </a:defRPr>
            </a:lvl4pPr>
            <a:lvl5pPr>
              <a:defRPr sz="4350" b="1">
                <a:solidFill>
                  <a:srgbClr val="172B4D"/>
                </a:solidFill>
              </a:defRPr>
            </a:lvl5pPr>
            <a:lvl6pPr>
              <a:defRPr sz="4350" b="1">
                <a:solidFill>
                  <a:srgbClr val="172B4D"/>
                </a:solidFill>
              </a:defRPr>
            </a:lvl6pPr>
            <a:lvl7pPr>
              <a:defRPr sz="4350" b="1">
                <a:solidFill>
                  <a:srgbClr val="172B4D"/>
                </a:solidFill>
              </a:defRPr>
            </a:lvl7pPr>
            <a:lvl8pPr>
              <a:defRPr sz="4350" b="1">
                <a:solidFill>
                  <a:srgbClr val="172B4D"/>
                </a:solidFill>
              </a:defRPr>
            </a:lvl8pPr>
            <a:lvl9pPr>
              <a:defRPr sz="43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72B4D"/>
                </a:solidFill>
              </a:defRPr>
            </a:pPr>
            <a:r>
              <a:rPr sz="4350" b="1">
                <a:solidFill>
                  <a:srgbClr val="172B4D"/>
                </a:solidFill>
              </a:rPr>
              <a:t>Who earns what,</a:t>
            </a:r>
          </a:p>
          <a:p xmlns:a="http://schemas.openxmlformats.org/drawingml/2006/main">
            <a:pPr>
              <a:defRPr sz="4350" b="1">
                <a:solidFill>
                  <a:srgbClr val="172B4D"/>
                </a:solidFill>
              </a:defRPr>
            </a:pPr>
            <a:r>
              <a:rPr sz="4350" b="1">
                <a:solidFill>
                  <a:srgbClr val="172B4D"/>
                </a:solidFill>
              </a:rPr>
              <a:t>and at what age?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AFF1A-2A30-4D25-9F5A-4320CD60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526579"/>
                </a:solidFill>
              </a:defRPr>
            </a:defPPr>
            <a:lvl1pPr>
              <a:defRPr sz="2250">
                <a:solidFill>
                  <a:srgbClr val="526579"/>
                </a:solidFill>
              </a:defRPr>
            </a:lvl1pPr>
            <a:lvl2pPr>
              <a:defRPr sz="2250">
                <a:solidFill>
                  <a:srgbClr val="526579"/>
                </a:solidFill>
              </a:defRPr>
            </a:lvl2pPr>
            <a:lvl3pPr>
              <a:defRPr sz="2250">
                <a:solidFill>
                  <a:srgbClr val="526579"/>
                </a:solidFill>
              </a:defRPr>
            </a:lvl3pPr>
            <a:lvl4pPr>
              <a:defRPr sz="2250">
                <a:solidFill>
                  <a:srgbClr val="526579"/>
                </a:solidFill>
              </a:defRPr>
            </a:lvl4pPr>
            <a:lvl5pPr>
              <a:defRPr sz="2250">
                <a:solidFill>
                  <a:srgbClr val="526579"/>
                </a:solidFill>
              </a:defRPr>
            </a:lvl5pPr>
            <a:lvl6pPr>
              <a:defRPr sz="2250">
                <a:solidFill>
                  <a:srgbClr val="526579"/>
                </a:solidFill>
              </a:defRPr>
            </a:lvl6pPr>
            <a:lvl7pPr>
              <a:defRPr sz="2250">
                <a:solidFill>
                  <a:srgbClr val="526579"/>
                </a:solidFill>
              </a:defRPr>
            </a:lvl7pPr>
            <a:lvl8pPr>
              <a:defRPr sz="2250">
                <a:solidFill>
                  <a:srgbClr val="526579"/>
                </a:solidFill>
              </a:defRPr>
            </a:lvl8pPr>
            <a:lvl9pPr>
              <a:defRPr sz="225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>
              <a:defRPr sz="2250">
                <a:solidFill>
                  <a:srgbClr val="526579"/>
                </a:solidFill>
              </a:defRPr>
            </a:pPr>
            <a:r>
              <a:rPr sz="2250">
                <a:solidFill>
                  <a:srgbClr val="526579"/>
                </a:solidFill>
              </a:rPr>
              <a:t>Annual earnings in PSLM 2019–20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A46B8-3D73-47C4-BD19-9B190238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3364D"/>
                </a:solidFill>
              </a:defRPr>
            </a:defPPr>
            <a:lvl1pPr>
              <a:defRPr sz="1875">
                <a:solidFill>
                  <a:srgbClr val="23364D"/>
                </a:solidFill>
              </a:defRPr>
            </a:lvl1pPr>
            <a:lvl2pPr>
              <a:defRPr sz="1875">
                <a:solidFill>
                  <a:srgbClr val="23364D"/>
                </a:solidFill>
              </a:defRPr>
            </a:lvl2pPr>
            <a:lvl3pPr>
              <a:defRPr sz="1875">
                <a:solidFill>
                  <a:srgbClr val="23364D"/>
                </a:solidFill>
              </a:defRPr>
            </a:lvl3pPr>
            <a:lvl4pPr>
              <a:defRPr sz="1875">
                <a:solidFill>
                  <a:srgbClr val="23364D"/>
                </a:solidFill>
              </a:defRPr>
            </a:lvl4pPr>
            <a:lvl5pPr>
              <a:defRPr sz="1875">
                <a:solidFill>
                  <a:srgbClr val="23364D"/>
                </a:solidFill>
              </a:defRPr>
            </a:lvl5pPr>
            <a:lvl6pPr>
              <a:defRPr sz="1875">
                <a:solidFill>
                  <a:srgbClr val="23364D"/>
                </a:solidFill>
              </a:defRPr>
            </a:lvl6pPr>
            <a:lvl7pPr>
              <a:defRPr sz="1875">
                <a:solidFill>
                  <a:srgbClr val="23364D"/>
                </a:solidFill>
              </a:defRPr>
            </a:lvl7pPr>
            <a:lvl8pPr>
              <a:defRPr sz="1875">
                <a:solidFill>
                  <a:srgbClr val="23364D"/>
                </a:solidFill>
              </a:defRPr>
            </a:lvl8pPr>
            <a:lvl9pPr>
              <a:defRPr sz="1875">
                <a:solidFill>
                  <a:srgbClr val="23364D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3364D"/>
                </a:solidFill>
              </a:defRPr>
            </a:pPr>
            <a:r>
              <a:rPr sz="1875">
                <a:solidFill>
                  <a:srgbClr val="23364D"/>
                </a:solidFill>
              </a:rPr>
              <a:t>Ahmad Muaaz  ·  FA24-BED-009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678FC-209B-44EF-A30C-0C763C55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526579"/>
                </a:solidFill>
              </a:defRPr>
            </a:defPPr>
            <a:lvl1pPr>
              <a:defRPr sz="1650">
                <a:solidFill>
                  <a:srgbClr val="526579"/>
                </a:solidFill>
              </a:defRPr>
            </a:lvl1pPr>
            <a:lvl2pPr>
              <a:defRPr sz="1650">
                <a:solidFill>
                  <a:srgbClr val="526579"/>
                </a:solidFill>
              </a:defRPr>
            </a:lvl2pPr>
            <a:lvl3pPr>
              <a:defRPr sz="1650">
                <a:solidFill>
                  <a:srgbClr val="526579"/>
                </a:solidFill>
              </a:defRPr>
            </a:lvl3pPr>
            <a:lvl4pPr>
              <a:defRPr sz="1650">
                <a:solidFill>
                  <a:srgbClr val="526579"/>
                </a:solidFill>
              </a:defRPr>
            </a:lvl4pPr>
            <a:lvl5pPr>
              <a:defRPr sz="1650">
                <a:solidFill>
                  <a:srgbClr val="526579"/>
                </a:solidFill>
              </a:defRPr>
            </a:lvl5pPr>
            <a:lvl6pPr>
              <a:defRPr sz="1650">
                <a:solidFill>
                  <a:srgbClr val="526579"/>
                </a:solidFill>
              </a:defRPr>
            </a:lvl6pPr>
            <a:lvl7pPr>
              <a:defRPr sz="1650">
                <a:solidFill>
                  <a:srgbClr val="526579"/>
                </a:solidFill>
              </a:defRPr>
            </a:lvl7pPr>
            <a:lvl8pPr>
              <a:defRPr sz="1650">
                <a:solidFill>
                  <a:srgbClr val="526579"/>
                </a:solidFill>
              </a:defRPr>
            </a:lvl8pPr>
            <a:lvl9pPr>
              <a:defRPr sz="165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526579"/>
                </a:solidFill>
              </a:defRPr>
            </a:pPr>
            <a:r>
              <a:rPr sz="1650">
                <a:solidFill>
                  <a:srgbClr val="526579"/>
                </a:solidFill>
              </a:rPr>
              <a:t>Data Visualization and Technical Experiments</a:t>
            </a:r>
          </a:p>
        </p:txBody>
      </p:sp>
    </p:spTree>
    <p:extLst>
      <p:ext uri="{BB962C8B-B14F-4D97-AF65-F5344CB8AC3E}">
        <p14:creationId xmlns:p14="http://schemas.microsoft.com/office/powerpoint/2010/main" val="571716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2FE6D-FCC3-4F0D-A47D-0B54F594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B4D"/>
                </a:solidFill>
              </a:defRPr>
            </a:defPPr>
            <a:lvl1pPr>
              <a:defRPr sz="3300" b="1">
                <a:solidFill>
                  <a:srgbClr val="172B4D"/>
                </a:solidFill>
              </a:defRPr>
            </a:lvl1pPr>
            <a:lvl2pPr>
              <a:defRPr sz="3300" b="1">
                <a:solidFill>
                  <a:srgbClr val="172B4D"/>
                </a:solidFill>
              </a:defRPr>
            </a:lvl2pPr>
            <a:lvl3pPr>
              <a:defRPr sz="3300" b="1">
                <a:solidFill>
                  <a:srgbClr val="172B4D"/>
                </a:solidFill>
              </a:defRPr>
            </a:lvl3pPr>
            <a:lvl4pPr>
              <a:defRPr sz="3300" b="1">
                <a:solidFill>
                  <a:srgbClr val="172B4D"/>
                </a:solidFill>
              </a:defRPr>
            </a:lvl4pPr>
            <a:lvl5pPr>
              <a:defRPr sz="3300" b="1">
                <a:solidFill>
                  <a:srgbClr val="172B4D"/>
                </a:solidFill>
              </a:defRPr>
            </a:lvl5pPr>
            <a:lvl6pPr>
              <a:defRPr sz="3300" b="1">
                <a:solidFill>
                  <a:srgbClr val="172B4D"/>
                </a:solidFill>
              </a:defRPr>
            </a:lvl6pPr>
            <a:lvl7pPr>
              <a:defRPr sz="3300" b="1">
                <a:solidFill>
                  <a:srgbClr val="172B4D"/>
                </a:solidFill>
              </a:defRPr>
            </a:lvl7pPr>
            <a:lvl8pPr>
              <a:defRPr sz="3300" b="1">
                <a:solidFill>
                  <a:srgbClr val="172B4D"/>
                </a:solidFill>
              </a:defRPr>
            </a:lvl8pPr>
            <a:lvl9pPr>
              <a:defRPr sz="33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B4D"/>
                </a:solidFill>
              </a:defRPr>
            </a:pPr>
            <a:r>
              <a:rPr sz="3300" b="1">
                <a:solidFill>
                  <a:srgbClr val="172B4D"/>
                </a:solidFill>
              </a:rPr>
              <a:t>Study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F412C-70AB-4808-83F9-3C67EA5B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C0392B"/>
                </a:solidFill>
              </a:defRPr>
            </a:defPPr>
            <a:lvl1pPr>
              <a:defRPr sz="2400" b="1">
                <a:solidFill>
                  <a:srgbClr val="C0392B"/>
                </a:solidFill>
              </a:defRPr>
            </a:lvl1pPr>
            <a:lvl2pPr>
              <a:defRPr sz="2400" b="1">
                <a:solidFill>
                  <a:srgbClr val="C0392B"/>
                </a:solidFill>
              </a:defRPr>
            </a:lvl2pPr>
            <a:lvl3pPr>
              <a:defRPr sz="2400" b="1">
                <a:solidFill>
                  <a:srgbClr val="C0392B"/>
                </a:solidFill>
              </a:defRPr>
            </a:lvl3pPr>
            <a:lvl4pPr>
              <a:defRPr sz="2400" b="1">
                <a:solidFill>
                  <a:srgbClr val="C0392B"/>
                </a:solidFill>
              </a:defRPr>
            </a:lvl4pPr>
            <a:lvl5pPr>
              <a:defRPr sz="2400" b="1">
                <a:solidFill>
                  <a:srgbClr val="C0392B"/>
                </a:solidFill>
              </a:defRPr>
            </a:lvl5pPr>
            <a:lvl6pPr>
              <a:defRPr sz="2400" b="1">
                <a:solidFill>
                  <a:srgbClr val="C0392B"/>
                </a:solidFill>
              </a:defRPr>
            </a:lvl6pPr>
            <a:lvl7pPr>
              <a:defRPr sz="2400" b="1">
                <a:solidFill>
                  <a:srgbClr val="C0392B"/>
                </a:solidFill>
              </a:defRPr>
            </a:lvl7pPr>
            <a:lvl8pPr>
              <a:defRPr sz="2400" b="1">
                <a:solidFill>
                  <a:srgbClr val="C0392B"/>
                </a:solidFill>
              </a:defRPr>
            </a:lvl8pPr>
            <a:lvl9pPr>
              <a:defRPr sz="2400" b="1">
                <a:solidFill>
                  <a:srgbClr val="C0392B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C0392B"/>
                </a:solidFill>
              </a:defRPr>
            </a:pPr>
            <a:r>
              <a:rPr sz="2400" b="1">
                <a:solidFill>
                  <a:srgbClr val="C0392B"/>
                </a:solidFill>
              </a:rPr>
              <a:t>Variant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07873-71E2-4D73-B73F-7E7DF495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3364D"/>
                </a:solidFill>
              </a:defRPr>
            </a:defPPr>
            <a:lvl1pPr>
              <a:defRPr sz="1875">
                <a:solidFill>
                  <a:srgbClr val="23364D"/>
                </a:solidFill>
              </a:defRPr>
            </a:lvl1pPr>
            <a:lvl2pPr>
              <a:defRPr sz="1875">
                <a:solidFill>
                  <a:srgbClr val="23364D"/>
                </a:solidFill>
              </a:defRPr>
            </a:lvl2pPr>
            <a:lvl3pPr>
              <a:defRPr sz="1875">
                <a:solidFill>
                  <a:srgbClr val="23364D"/>
                </a:solidFill>
              </a:defRPr>
            </a:lvl3pPr>
            <a:lvl4pPr>
              <a:defRPr sz="1875">
                <a:solidFill>
                  <a:srgbClr val="23364D"/>
                </a:solidFill>
              </a:defRPr>
            </a:lvl4pPr>
            <a:lvl5pPr>
              <a:defRPr sz="1875">
                <a:solidFill>
                  <a:srgbClr val="23364D"/>
                </a:solidFill>
              </a:defRPr>
            </a:lvl5pPr>
            <a:lvl6pPr>
              <a:defRPr sz="1875">
                <a:solidFill>
                  <a:srgbClr val="23364D"/>
                </a:solidFill>
              </a:defRPr>
            </a:lvl6pPr>
            <a:lvl7pPr>
              <a:defRPr sz="1875">
                <a:solidFill>
                  <a:srgbClr val="23364D"/>
                </a:solidFill>
              </a:defRPr>
            </a:lvl7pPr>
            <a:lvl8pPr>
              <a:defRPr sz="1875">
                <a:solidFill>
                  <a:srgbClr val="23364D"/>
                </a:solidFill>
              </a:defRPr>
            </a:lvl8pPr>
            <a:lvl9pPr>
              <a:defRPr sz="1875">
                <a:solidFill>
                  <a:srgbClr val="23364D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3364D"/>
                </a:solidFill>
              </a:defRPr>
            </a:pPr>
            <a:r>
              <a:rPr sz="1875">
                <a:solidFill>
                  <a:srgbClr val="23364D"/>
                </a:solidFill>
              </a:rPr>
              <a:t>Registration suffix 009 mod 8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A5D0F-930D-4DBB-A274-54DDF9EA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3364D"/>
                </a:solidFill>
              </a:defRPr>
            </a:defPPr>
            <a:lvl1pPr>
              <a:defRPr sz="1875">
                <a:solidFill>
                  <a:srgbClr val="23364D"/>
                </a:solidFill>
              </a:defRPr>
            </a:lvl1pPr>
            <a:lvl2pPr>
              <a:defRPr sz="1875">
                <a:solidFill>
                  <a:srgbClr val="23364D"/>
                </a:solidFill>
              </a:defRPr>
            </a:lvl2pPr>
            <a:lvl3pPr>
              <a:defRPr sz="1875">
                <a:solidFill>
                  <a:srgbClr val="23364D"/>
                </a:solidFill>
              </a:defRPr>
            </a:lvl3pPr>
            <a:lvl4pPr>
              <a:defRPr sz="1875">
                <a:solidFill>
                  <a:srgbClr val="23364D"/>
                </a:solidFill>
              </a:defRPr>
            </a:lvl4pPr>
            <a:lvl5pPr>
              <a:defRPr sz="1875">
                <a:solidFill>
                  <a:srgbClr val="23364D"/>
                </a:solidFill>
              </a:defRPr>
            </a:lvl5pPr>
            <a:lvl6pPr>
              <a:defRPr sz="1875">
                <a:solidFill>
                  <a:srgbClr val="23364D"/>
                </a:solidFill>
              </a:defRPr>
            </a:lvl6pPr>
            <a:lvl7pPr>
              <a:defRPr sz="1875">
                <a:solidFill>
                  <a:srgbClr val="23364D"/>
                </a:solidFill>
              </a:defRPr>
            </a:lvl7pPr>
            <a:lvl8pPr>
              <a:defRPr sz="1875">
                <a:solidFill>
                  <a:srgbClr val="23364D"/>
                </a:solidFill>
              </a:defRPr>
            </a:lvl8pPr>
            <a:lvl9pPr>
              <a:defRPr sz="1875">
                <a:solidFill>
                  <a:srgbClr val="23364D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3364D"/>
                </a:solidFill>
              </a:defRPr>
            </a:pPr>
            <a:r>
              <a:rPr sz="1875">
                <a:solidFill>
                  <a:srgbClr val="23364D"/>
                </a:solidFill>
              </a:rPr>
              <a:t>Province code 2  ·  Area code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69DCC-1C3A-4BD7-A1D9-B73AF383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B4D"/>
                </a:solidFill>
              </a:defRPr>
            </a:defPPr>
            <a:lvl1pPr>
              <a:defRPr sz="3000" b="1">
                <a:solidFill>
                  <a:srgbClr val="172B4D"/>
                </a:solidFill>
              </a:defRPr>
            </a:lvl1pPr>
            <a:lvl2pPr>
              <a:defRPr sz="3000" b="1">
                <a:solidFill>
                  <a:srgbClr val="172B4D"/>
                </a:solidFill>
              </a:defRPr>
            </a:lvl2pPr>
            <a:lvl3pPr>
              <a:defRPr sz="3000" b="1">
                <a:solidFill>
                  <a:srgbClr val="172B4D"/>
                </a:solidFill>
              </a:defRPr>
            </a:lvl3pPr>
            <a:lvl4pPr>
              <a:defRPr sz="3000" b="1">
                <a:solidFill>
                  <a:srgbClr val="172B4D"/>
                </a:solidFill>
              </a:defRPr>
            </a:lvl4pPr>
            <a:lvl5pPr>
              <a:defRPr sz="3000" b="1">
                <a:solidFill>
                  <a:srgbClr val="172B4D"/>
                </a:solidFill>
              </a:defRPr>
            </a:lvl5pPr>
            <a:lvl6pPr>
              <a:defRPr sz="3000" b="1">
                <a:solidFill>
                  <a:srgbClr val="172B4D"/>
                </a:solidFill>
              </a:defRPr>
            </a:lvl6pPr>
            <a:lvl7pPr>
              <a:defRPr sz="3000" b="1">
                <a:solidFill>
                  <a:srgbClr val="172B4D"/>
                </a:solidFill>
              </a:defRPr>
            </a:lvl7pPr>
            <a:lvl8pPr>
              <a:defRPr sz="3000" b="1">
                <a:solidFill>
                  <a:srgbClr val="172B4D"/>
                </a:solidFill>
              </a:defRPr>
            </a:lvl8pPr>
            <a:lvl9pPr>
              <a:defRPr sz="30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3,768 earners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969FF-DB3A-49CF-B554-E8FBE38B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3364D"/>
                </a:solidFill>
              </a:defRPr>
            </a:defPPr>
            <a:lvl1pPr>
              <a:defRPr sz="1875">
                <a:solidFill>
                  <a:srgbClr val="23364D"/>
                </a:solidFill>
              </a:defRPr>
            </a:lvl1pPr>
            <a:lvl2pPr>
              <a:defRPr sz="1875">
                <a:solidFill>
                  <a:srgbClr val="23364D"/>
                </a:solidFill>
              </a:defRPr>
            </a:lvl2pPr>
            <a:lvl3pPr>
              <a:defRPr sz="1875">
                <a:solidFill>
                  <a:srgbClr val="23364D"/>
                </a:solidFill>
              </a:defRPr>
            </a:lvl3pPr>
            <a:lvl4pPr>
              <a:defRPr sz="1875">
                <a:solidFill>
                  <a:srgbClr val="23364D"/>
                </a:solidFill>
              </a:defRPr>
            </a:lvl4pPr>
            <a:lvl5pPr>
              <a:defRPr sz="1875">
                <a:solidFill>
                  <a:srgbClr val="23364D"/>
                </a:solidFill>
              </a:defRPr>
            </a:lvl5pPr>
            <a:lvl6pPr>
              <a:defRPr sz="1875">
                <a:solidFill>
                  <a:srgbClr val="23364D"/>
                </a:solidFill>
              </a:defRPr>
            </a:lvl6pPr>
            <a:lvl7pPr>
              <a:defRPr sz="1875">
                <a:solidFill>
                  <a:srgbClr val="23364D"/>
                </a:solidFill>
              </a:defRPr>
            </a:lvl7pPr>
            <a:lvl8pPr>
              <a:defRPr sz="1875">
                <a:solidFill>
                  <a:srgbClr val="23364D"/>
                </a:solidFill>
              </a:defRPr>
            </a:lvl8pPr>
            <a:lvl9pPr>
              <a:defRPr sz="1875">
                <a:solidFill>
                  <a:srgbClr val="23364D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3364D"/>
                </a:solidFill>
              </a:defRPr>
            </a:pPr>
            <a:r>
              <a:rPr sz="1875">
                <a:solidFill>
                  <a:srgbClr val="23364D"/>
                </a:solidFill>
              </a:rPr>
              <a:t>Ages 15–64 with annual earnings above zero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4507A-D5CF-4C99-9238-CB331D3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3364D"/>
                </a:solidFill>
              </a:defRPr>
            </a:defPPr>
            <a:lvl1pPr>
              <a:defRPr sz="1875">
                <a:solidFill>
                  <a:srgbClr val="23364D"/>
                </a:solidFill>
              </a:defRPr>
            </a:lvl1pPr>
            <a:lvl2pPr>
              <a:defRPr sz="1875">
                <a:solidFill>
                  <a:srgbClr val="23364D"/>
                </a:solidFill>
              </a:defRPr>
            </a:lvl2pPr>
            <a:lvl3pPr>
              <a:defRPr sz="1875">
                <a:solidFill>
                  <a:srgbClr val="23364D"/>
                </a:solidFill>
              </a:defRPr>
            </a:lvl3pPr>
            <a:lvl4pPr>
              <a:defRPr sz="1875">
                <a:solidFill>
                  <a:srgbClr val="23364D"/>
                </a:solidFill>
              </a:defRPr>
            </a:lvl4pPr>
            <a:lvl5pPr>
              <a:defRPr sz="1875">
                <a:solidFill>
                  <a:srgbClr val="23364D"/>
                </a:solidFill>
              </a:defRPr>
            </a:lvl5pPr>
            <a:lvl6pPr>
              <a:defRPr sz="1875">
                <a:solidFill>
                  <a:srgbClr val="23364D"/>
                </a:solidFill>
              </a:defRPr>
            </a:lvl6pPr>
            <a:lvl7pPr>
              <a:defRPr sz="1875">
                <a:solidFill>
                  <a:srgbClr val="23364D"/>
                </a:solidFill>
              </a:defRPr>
            </a:lvl7pPr>
            <a:lvl8pPr>
              <a:defRPr sz="1875">
                <a:solidFill>
                  <a:srgbClr val="23364D"/>
                </a:solidFill>
              </a:defRPr>
            </a:lvl8pPr>
            <a:lvl9pPr>
              <a:defRPr sz="1875">
                <a:solidFill>
                  <a:srgbClr val="23364D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3364D"/>
                </a:solidFill>
              </a:defRPr>
            </a:pPr>
            <a:r>
              <a:rPr sz="1875">
                <a:solidFill>
                  <a:srgbClr val="23364D"/>
                </a:solidFill>
              </a:rPr>
              <a:t>Person records are joined to households by hhid. Estimates use hhweight.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942B3-C26D-482B-BA9B-87F5D034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26579"/>
                </a:solidFill>
              </a:defRPr>
            </a:defPPr>
            <a:lvl1pPr>
              <a:defRPr sz="1425">
                <a:solidFill>
                  <a:srgbClr val="526579"/>
                </a:solidFill>
              </a:defRPr>
            </a:lvl1pPr>
            <a:lvl2pPr>
              <a:defRPr sz="1425">
                <a:solidFill>
                  <a:srgbClr val="526579"/>
                </a:solidFill>
              </a:defRPr>
            </a:lvl2pPr>
            <a:lvl3pPr>
              <a:defRPr sz="1425">
                <a:solidFill>
                  <a:srgbClr val="526579"/>
                </a:solidFill>
              </a:defRPr>
            </a:lvl3pPr>
            <a:lvl4pPr>
              <a:defRPr sz="1425">
                <a:solidFill>
                  <a:srgbClr val="526579"/>
                </a:solidFill>
              </a:defRPr>
            </a:lvl4pPr>
            <a:lvl5pPr>
              <a:defRPr sz="1425">
                <a:solidFill>
                  <a:srgbClr val="526579"/>
                </a:solidFill>
              </a:defRPr>
            </a:lvl5pPr>
            <a:lvl6pPr>
              <a:defRPr sz="1425">
                <a:solidFill>
                  <a:srgbClr val="526579"/>
                </a:solidFill>
              </a:defRPr>
            </a:lvl6pPr>
            <a:lvl7pPr>
              <a:defRPr sz="1425">
                <a:solidFill>
                  <a:srgbClr val="526579"/>
                </a:solidFill>
              </a:defRPr>
            </a:lvl7pPr>
            <a:lvl8pPr>
              <a:defRPr sz="1425">
                <a:solidFill>
                  <a:srgbClr val="526579"/>
                </a:solidFill>
              </a:defRPr>
            </a:lvl8pPr>
            <a:lvl9pPr>
              <a:defRPr sz="1425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26579"/>
                </a:solidFill>
              </a:defRPr>
            </a:pPr>
            <a:r>
              <a:rPr sz="1425">
                <a:solidFill>
                  <a:srgbClr val="526579"/>
                </a:solidFill>
              </a:rPr>
              <a:t>Source: PSLM 2019–20 course subset</a:t>
            </a:r>
          </a:p>
        </p:txBody>
      </p:sp>
    </p:spTree>
    <p:extLst>
      <p:ext uri="{BB962C8B-B14F-4D97-AF65-F5344CB8AC3E}">
        <p14:creationId xmlns:p14="http://schemas.microsoft.com/office/powerpoint/2010/main" val="252804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50F91-4B3B-4767-9146-40DC8F67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B4D"/>
                </a:solidFill>
              </a:defRPr>
            </a:defPPr>
            <a:lvl1pPr>
              <a:defRPr sz="3300" b="1">
                <a:solidFill>
                  <a:srgbClr val="172B4D"/>
                </a:solidFill>
              </a:defRPr>
            </a:lvl1pPr>
            <a:lvl2pPr>
              <a:defRPr sz="3300" b="1">
                <a:solidFill>
                  <a:srgbClr val="172B4D"/>
                </a:solidFill>
              </a:defRPr>
            </a:lvl2pPr>
            <a:lvl3pPr>
              <a:defRPr sz="3300" b="1">
                <a:solidFill>
                  <a:srgbClr val="172B4D"/>
                </a:solidFill>
              </a:defRPr>
            </a:lvl3pPr>
            <a:lvl4pPr>
              <a:defRPr sz="3300" b="1">
                <a:solidFill>
                  <a:srgbClr val="172B4D"/>
                </a:solidFill>
              </a:defRPr>
            </a:lvl4pPr>
            <a:lvl5pPr>
              <a:defRPr sz="3300" b="1">
                <a:solidFill>
                  <a:srgbClr val="172B4D"/>
                </a:solidFill>
              </a:defRPr>
            </a:lvl5pPr>
            <a:lvl6pPr>
              <a:defRPr sz="3300" b="1">
                <a:solidFill>
                  <a:srgbClr val="172B4D"/>
                </a:solidFill>
              </a:defRPr>
            </a:lvl6pPr>
            <a:lvl7pPr>
              <a:defRPr sz="3300" b="1">
                <a:solidFill>
                  <a:srgbClr val="172B4D"/>
                </a:solidFill>
              </a:defRPr>
            </a:lvl7pPr>
            <a:lvl8pPr>
              <a:defRPr sz="3300" b="1">
                <a:solidFill>
                  <a:srgbClr val="172B4D"/>
                </a:solidFill>
              </a:defRPr>
            </a:lvl8pPr>
            <a:lvl9pPr>
              <a:defRPr sz="33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B4D"/>
                </a:solidFill>
              </a:defRPr>
            </a:pPr>
            <a:r>
              <a:rPr sz="3300" b="1">
                <a:solidFill>
                  <a:srgbClr val="172B4D"/>
                </a:solidFill>
              </a:rPr>
              <a:t>Earnings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5137C-94B1-487E-BFE4-6BC71075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09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72B4D"/>
                </a:solidFill>
              </a:defRPr>
            </a:defPPr>
            <a:lvl1pPr>
              <a:defRPr sz="4650" b="1">
                <a:solidFill>
                  <a:srgbClr val="172B4D"/>
                </a:solidFill>
              </a:defRPr>
            </a:lvl1pPr>
            <a:lvl2pPr>
              <a:defRPr sz="4650" b="1">
                <a:solidFill>
                  <a:srgbClr val="172B4D"/>
                </a:solidFill>
              </a:defRPr>
            </a:lvl2pPr>
            <a:lvl3pPr>
              <a:defRPr sz="4650" b="1">
                <a:solidFill>
                  <a:srgbClr val="172B4D"/>
                </a:solidFill>
              </a:defRPr>
            </a:lvl3pPr>
            <a:lvl4pPr>
              <a:defRPr sz="4650" b="1">
                <a:solidFill>
                  <a:srgbClr val="172B4D"/>
                </a:solidFill>
              </a:defRPr>
            </a:lvl4pPr>
            <a:lvl5pPr>
              <a:defRPr sz="4650" b="1">
                <a:solidFill>
                  <a:srgbClr val="172B4D"/>
                </a:solidFill>
              </a:defRPr>
            </a:lvl5pPr>
            <a:lvl6pPr>
              <a:defRPr sz="4650" b="1">
                <a:solidFill>
                  <a:srgbClr val="172B4D"/>
                </a:solidFill>
              </a:defRPr>
            </a:lvl6pPr>
            <a:lvl7pPr>
              <a:defRPr sz="4650" b="1">
                <a:solidFill>
                  <a:srgbClr val="172B4D"/>
                </a:solidFill>
              </a:defRPr>
            </a:lvl7pPr>
            <a:lvl8pPr>
              <a:defRPr sz="4650" b="1">
                <a:solidFill>
                  <a:srgbClr val="172B4D"/>
                </a:solidFill>
              </a:defRPr>
            </a:lvl8pPr>
            <a:lvl9pPr>
              <a:defRPr sz="46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72B4D"/>
                </a:solidFill>
              </a:defRPr>
            </a:pPr>
            <a:r>
              <a:rPr sz="4650" b="1">
                <a:solidFill>
                  <a:srgbClr val="172B4D"/>
                </a:solidFill>
              </a:rPr>
              <a:t>Rs 240,000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4E8DD-7C4C-4889-B8DC-B661571C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526579"/>
                </a:solidFill>
              </a:defRPr>
            </a:defPPr>
            <a:lvl1pPr>
              <a:defRPr sz="1800">
                <a:solidFill>
                  <a:srgbClr val="526579"/>
                </a:solidFill>
              </a:defRPr>
            </a:lvl1pPr>
            <a:lvl2pPr>
              <a:defRPr sz="1800">
                <a:solidFill>
                  <a:srgbClr val="526579"/>
                </a:solidFill>
              </a:defRPr>
            </a:lvl2pPr>
            <a:lvl3pPr>
              <a:defRPr sz="1800">
                <a:solidFill>
                  <a:srgbClr val="526579"/>
                </a:solidFill>
              </a:defRPr>
            </a:lvl3pPr>
            <a:lvl4pPr>
              <a:defRPr sz="1800">
                <a:solidFill>
                  <a:srgbClr val="526579"/>
                </a:solidFill>
              </a:defRPr>
            </a:lvl4pPr>
            <a:lvl5pPr>
              <a:defRPr sz="1800">
                <a:solidFill>
                  <a:srgbClr val="526579"/>
                </a:solidFill>
              </a:defRPr>
            </a:lvl5pPr>
            <a:lvl6pPr>
              <a:defRPr sz="1800">
                <a:solidFill>
                  <a:srgbClr val="526579"/>
                </a:solidFill>
              </a:defRPr>
            </a:lvl6pPr>
            <a:lvl7pPr>
              <a:defRPr sz="1800">
                <a:solidFill>
                  <a:srgbClr val="526579"/>
                </a:solidFill>
              </a:defRPr>
            </a:lvl7pPr>
            <a:lvl8pPr>
              <a:defRPr sz="1800">
                <a:solidFill>
                  <a:srgbClr val="526579"/>
                </a:solidFill>
              </a:defRPr>
            </a:lvl8pPr>
            <a:lvl9pPr>
              <a:defRPr sz="180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>
              <a:defRPr sz="1800">
                <a:solidFill>
                  <a:srgbClr val="526579"/>
                </a:solidFill>
              </a:defRPr>
            </a:pPr>
            <a:r>
              <a:rPr sz="1800">
                <a:solidFill>
                  <a:srgbClr val="526579"/>
                </a:solidFill>
              </a:rPr>
              <a:t>Median annual earnings, weighted and unweighted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E1059-E850-42B5-84EF-1E9E5E27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364D"/>
                </a:solidFill>
              </a:defRPr>
            </a:defPPr>
            <a:lvl1pPr>
              <a:defRPr sz="1725" b="1">
                <a:solidFill>
                  <a:srgbClr val="23364D"/>
                </a:solidFill>
              </a:defRPr>
            </a:lvl1pPr>
            <a:lvl2pPr>
              <a:defRPr sz="1725" b="1">
                <a:solidFill>
                  <a:srgbClr val="23364D"/>
                </a:solidFill>
              </a:defRPr>
            </a:lvl2pPr>
            <a:lvl3pPr>
              <a:defRPr sz="1725" b="1">
                <a:solidFill>
                  <a:srgbClr val="23364D"/>
                </a:solidFill>
              </a:defRPr>
            </a:lvl3pPr>
            <a:lvl4pPr>
              <a:defRPr sz="1725" b="1">
                <a:solidFill>
                  <a:srgbClr val="23364D"/>
                </a:solidFill>
              </a:defRPr>
            </a:lvl4pPr>
            <a:lvl5pPr>
              <a:defRPr sz="1725" b="1">
                <a:solidFill>
                  <a:srgbClr val="23364D"/>
                </a:solidFill>
              </a:defRPr>
            </a:lvl5pPr>
            <a:lvl6pPr>
              <a:defRPr sz="1725" b="1">
                <a:solidFill>
                  <a:srgbClr val="23364D"/>
                </a:solidFill>
              </a:defRPr>
            </a:lvl6pPr>
            <a:lvl7pPr>
              <a:defRPr sz="1725" b="1">
                <a:solidFill>
                  <a:srgbClr val="23364D"/>
                </a:solidFill>
              </a:defRPr>
            </a:lvl7pPr>
            <a:lvl8pPr>
              <a:defRPr sz="1725" b="1">
                <a:solidFill>
                  <a:srgbClr val="23364D"/>
                </a:solidFill>
              </a:defRPr>
            </a:lvl8pPr>
            <a:lvl9pPr>
              <a:defRPr sz="1725" b="1">
                <a:solidFill>
                  <a:srgbClr val="23364D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364D"/>
                </a:solidFill>
              </a:defRPr>
            </a:pPr>
            <a:r>
              <a:rPr sz="1725" b="1">
                <a:solidFill>
                  <a:srgbClr val="23364D"/>
                </a:solidFill>
              </a:rPr>
              <a:t>Weighted percentiles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00BA0-2B8F-4249-82D9-13EB9D06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172B4D"/>
                </a:solidFill>
              </a:defRPr>
            </a:defPPr>
            <a:lvl1pPr>
              <a:defRPr sz="2250">
                <a:solidFill>
                  <a:srgbClr val="172B4D"/>
                </a:solidFill>
              </a:defRPr>
            </a:lvl1pPr>
            <a:lvl2pPr>
              <a:defRPr sz="2250">
                <a:solidFill>
                  <a:srgbClr val="172B4D"/>
                </a:solidFill>
              </a:defRPr>
            </a:lvl2pPr>
            <a:lvl3pPr>
              <a:defRPr sz="2250">
                <a:solidFill>
                  <a:srgbClr val="172B4D"/>
                </a:solidFill>
              </a:defRPr>
            </a:lvl3pPr>
            <a:lvl4pPr>
              <a:defRPr sz="2250">
                <a:solidFill>
                  <a:srgbClr val="172B4D"/>
                </a:solidFill>
              </a:defRPr>
            </a:lvl4pPr>
            <a:lvl5pPr>
              <a:defRPr sz="2250">
                <a:solidFill>
                  <a:srgbClr val="172B4D"/>
                </a:solidFill>
              </a:defRPr>
            </a:lvl5pPr>
            <a:lvl6pPr>
              <a:defRPr sz="2250">
                <a:solidFill>
                  <a:srgbClr val="172B4D"/>
                </a:solidFill>
              </a:defRPr>
            </a:lvl6pPr>
            <a:lvl7pPr>
              <a:defRPr sz="2250">
                <a:solidFill>
                  <a:srgbClr val="172B4D"/>
                </a:solidFill>
              </a:defRPr>
            </a:lvl7pPr>
            <a:lvl8pPr>
              <a:defRPr sz="2250">
                <a:solidFill>
                  <a:srgbClr val="172B4D"/>
                </a:solidFill>
              </a:defRPr>
            </a:lvl8pPr>
            <a:lvl9pPr>
              <a:defRPr sz="225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2250">
                <a:solidFill>
                  <a:srgbClr val="172B4D"/>
                </a:solidFill>
              </a:defRPr>
            </a:pPr>
            <a:r>
              <a:rPr sz="2250">
                <a:solidFill>
                  <a:srgbClr val="172B4D"/>
                </a:solidFill>
              </a:rPr>
              <a:t>10th: Rs 96,000     90th: Rs 660,000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82D33-24FA-48B6-96F1-2B570C62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23364D"/>
                </a:solidFill>
              </a:defRPr>
            </a:defPPr>
            <a:lvl1pPr>
              <a:defRPr sz="1950">
                <a:solidFill>
                  <a:srgbClr val="23364D"/>
                </a:solidFill>
              </a:defRPr>
            </a:lvl1pPr>
            <a:lvl2pPr>
              <a:defRPr sz="1950">
                <a:solidFill>
                  <a:srgbClr val="23364D"/>
                </a:solidFill>
              </a:defRPr>
            </a:lvl2pPr>
            <a:lvl3pPr>
              <a:defRPr sz="1950">
                <a:solidFill>
                  <a:srgbClr val="23364D"/>
                </a:solidFill>
              </a:defRPr>
            </a:lvl3pPr>
            <a:lvl4pPr>
              <a:defRPr sz="1950">
                <a:solidFill>
                  <a:srgbClr val="23364D"/>
                </a:solidFill>
              </a:defRPr>
            </a:lvl4pPr>
            <a:lvl5pPr>
              <a:defRPr sz="1950">
                <a:solidFill>
                  <a:srgbClr val="23364D"/>
                </a:solidFill>
              </a:defRPr>
            </a:lvl5pPr>
            <a:lvl6pPr>
              <a:defRPr sz="1950">
                <a:solidFill>
                  <a:srgbClr val="23364D"/>
                </a:solidFill>
              </a:defRPr>
            </a:lvl6pPr>
            <a:lvl7pPr>
              <a:defRPr sz="1950">
                <a:solidFill>
                  <a:srgbClr val="23364D"/>
                </a:solidFill>
              </a:defRPr>
            </a:lvl7pPr>
            <a:lvl8pPr>
              <a:defRPr sz="1950">
                <a:solidFill>
                  <a:srgbClr val="23364D"/>
                </a:solidFill>
              </a:defRPr>
            </a:lvl8pPr>
            <a:lvl9pPr>
              <a:defRPr sz="1950">
                <a:solidFill>
                  <a:srgbClr val="23364D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23364D"/>
                </a:solidFill>
              </a:defRPr>
            </a:pPr>
            <a:r>
              <a:rPr sz="1950">
                <a:solidFill>
                  <a:srgbClr val="23364D"/>
                </a:solidFill>
              </a:rPr>
              <a:t>P90 / P10 ratio: 6.88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40CB9-EF8C-4D3C-A870-F272A259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526579"/>
                </a:solidFill>
              </a:defRPr>
            </a:defPPr>
            <a:lvl1pPr>
              <a:defRPr sz="1725">
                <a:solidFill>
                  <a:srgbClr val="526579"/>
                </a:solidFill>
              </a:defRPr>
            </a:lvl1pPr>
            <a:lvl2pPr>
              <a:defRPr sz="1725">
                <a:solidFill>
                  <a:srgbClr val="526579"/>
                </a:solidFill>
              </a:defRPr>
            </a:lvl2pPr>
            <a:lvl3pPr>
              <a:defRPr sz="1725">
                <a:solidFill>
                  <a:srgbClr val="526579"/>
                </a:solidFill>
              </a:defRPr>
            </a:lvl3pPr>
            <a:lvl4pPr>
              <a:defRPr sz="1725">
                <a:solidFill>
                  <a:srgbClr val="526579"/>
                </a:solidFill>
              </a:defRPr>
            </a:lvl4pPr>
            <a:lvl5pPr>
              <a:defRPr sz="1725">
                <a:solidFill>
                  <a:srgbClr val="526579"/>
                </a:solidFill>
              </a:defRPr>
            </a:lvl5pPr>
            <a:lvl6pPr>
              <a:defRPr sz="1725">
                <a:solidFill>
                  <a:srgbClr val="526579"/>
                </a:solidFill>
              </a:defRPr>
            </a:lvl6pPr>
            <a:lvl7pPr>
              <a:defRPr sz="1725">
                <a:solidFill>
                  <a:srgbClr val="526579"/>
                </a:solidFill>
              </a:defRPr>
            </a:lvl7pPr>
            <a:lvl8pPr>
              <a:defRPr sz="1725">
                <a:solidFill>
                  <a:srgbClr val="526579"/>
                </a:solidFill>
              </a:defRPr>
            </a:lvl8pPr>
            <a:lvl9pPr>
              <a:defRPr sz="1725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526579"/>
                </a:solidFill>
              </a:defRPr>
            </a:pPr>
            <a:r>
              <a:rPr sz="1725">
                <a:solidFill>
                  <a:srgbClr val="526579"/>
                </a:solidFill>
              </a:rPr>
              <a:t>The log-scale histogram omits 25 earners outside Rs 10,000–10,000,000.</a:t>
            </a:r>
          </a:p>
        </p:txBody>
      </p:sp>
    </p:spTree>
    <p:extLst>
      <p:ext uri="{BB962C8B-B14F-4D97-AF65-F5344CB8AC3E}">
        <p14:creationId xmlns:p14="http://schemas.microsoft.com/office/powerpoint/2010/main" val="826073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36E31-A9F2-43CA-84D4-E44D427F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B4D"/>
                </a:solidFill>
              </a:defRPr>
            </a:defPPr>
            <a:lvl1pPr>
              <a:defRPr sz="3300" b="1">
                <a:solidFill>
                  <a:srgbClr val="172B4D"/>
                </a:solidFill>
              </a:defRPr>
            </a:lvl1pPr>
            <a:lvl2pPr>
              <a:defRPr sz="3300" b="1">
                <a:solidFill>
                  <a:srgbClr val="172B4D"/>
                </a:solidFill>
              </a:defRPr>
            </a:lvl2pPr>
            <a:lvl3pPr>
              <a:defRPr sz="3300" b="1">
                <a:solidFill>
                  <a:srgbClr val="172B4D"/>
                </a:solidFill>
              </a:defRPr>
            </a:lvl3pPr>
            <a:lvl4pPr>
              <a:defRPr sz="3300" b="1">
                <a:solidFill>
                  <a:srgbClr val="172B4D"/>
                </a:solidFill>
              </a:defRPr>
            </a:lvl4pPr>
            <a:lvl5pPr>
              <a:defRPr sz="3300" b="1">
                <a:solidFill>
                  <a:srgbClr val="172B4D"/>
                </a:solidFill>
              </a:defRPr>
            </a:lvl5pPr>
            <a:lvl6pPr>
              <a:defRPr sz="3300" b="1">
                <a:solidFill>
                  <a:srgbClr val="172B4D"/>
                </a:solidFill>
              </a:defRPr>
            </a:lvl6pPr>
            <a:lvl7pPr>
              <a:defRPr sz="3300" b="1">
                <a:solidFill>
                  <a:srgbClr val="172B4D"/>
                </a:solidFill>
              </a:defRPr>
            </a:lvl7pPr>
            <a:lvl8pPr>
              <a:defRPr sz="3300" b="1">
                <a:solidFill>
                  <a:srgbClr val="172B4D"/>
                </a:solidFill>
              </a:defRPr>
            </a:lvl8pPr>
            <a:lvl9pPr>
              <a:defRPr sz="33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B4D"/>
                </a:solidFill>
              </a:defRPr>
            </a:pPr>
            <a:r>
              <a:rPr sz="3300" b="1">
                <a:solidFill>
                  <a:srgbClr val="172B4D"/>
                </a:solidFill>
              </a:rPr>
              <a:t>Weighted mean earnings by age band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96267-5259-4C95-A5A2-EB0C53D6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334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526579"/>
                </a:solidFill>
              </a:defRPr>
            </a:defPPr>
            <a:lvl1pPr>
              <a:defRPr sz="1500">
                <a:solidFill>
                  <a:srgbClr val="526579"/>
                </a:solidFill>
              </a:defRPr>
            </a:lvl1pPr>
            <a:lvl2pPr>
              <a:defRPr sz="1500">
                <a:solidFill>
                  <a:srgbClr val="526579"/>
                </a:solidFill>
              </a:defRPr>
            </a:lvl2pPr>
            <a:lvl3pPr>
              <a:defRPr sz="1500">
                <a:solidFill>
                  <a:srgbClr val="526579"/>
                </a:solidFill>
              </a:defRPr>
            </a:lvl3pPr>
            <a:lvl4pPr>
              <a:defRPr sz="1500">
                <a:solidFill>
                  <a:srgbClr val="526579"/>
                </a:solidFill>
              </a:defRPr>
            </a:lvl4pPr>
            <a:lvl5pPr>
              <a:defRPr sz="1500">
                <a:solidFill>
                  <a:srgbClr val="526579"/>
                </a:solidFill>
              </a:defRPr>
            </a:lvl5pPr>
            <a:lvl6pPr>
              <a:defRPr sz="1500">
                <a:solidFill>
                  <a:srgbClr val="526579"/>
                </a:solidFill>
              </a:defRPr>
            </a:lvl6pPr>
            <a:lvl7pPr>
              <a:defRPr sz="1500">
                <a:solidFill>
                  <a:srgbClr val="526579"/>
                </a:solidFill>
              </a:defRPr>
            </a:lvl7pPr>
            <a:lvl8pPr>
              <a:defRPr sz="1500">
                <a:solidFill>
                  <a:srgbClr val="526579"/>
                </a:solidFill>
              </a:defRPr>
            </a:lvl8pPr>
            <a:lvl9pPr>
              <a:defRPr sz="150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>
              <a:defRPr sz="1500">
                <a:solidFill>
                  <a:srgbClr val="526579"/>
                </a:solidFill>
              </a:defRPr>
            </a:pPr>
            <a:r>
              <a:rPr sz="1500">
                <a:solidFill>
                  <a:srgbClr val="526579"/>
                </a:solidFill>
              </a:rPr>
              <a:t>Weighted means are rounded to the nearest rupee.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BA1BE-B91A-44C6-B15C-ACEE5F161152}"/>
              </a:ext>
            </a:extLst>
          </p:cNvPr>
          <p:cNvGraphicFramePr/>
          <p:nvPr/>
        </p:nvGraphicFramePr>
        <p:xfrm>
          <a:off xmlns:a="http://schemas.openxmlformats.org/drawingml/2006/main" x="1143000" y="1543050"/>
          <a:ext xmlns:a="http://schemas.openxmlformats.org/drawingml/2006/main" cx="9906000" cy="4476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2381250"/>
                <a:gridCol w="5334000"/>
              </a:tblGrid>
              <a:tr h="40697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Age 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Earners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Weighted mean (Rs)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72B4D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15–19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229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145,444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20–24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449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216,585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25–29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499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320,776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30–34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518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369,580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35–39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498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354,031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40–44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435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498,966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45–49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427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465,073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50–54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363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521,949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D"/>
                          </a:solidFill>
                        </a:rPr>
                        <a:t>55–59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CED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D"/>
                          </a:solidFill>
                        </a:rPr>
                        <a:t>220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CED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B4D"/>
                          </a:solidFill>
                        </a:rPr>
                        <a:t>523,751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CEDEA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60–64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130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64D"/>
                          </a:solidFill>
                        </a:rPr>
                        <a:t>453,067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999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CC934-309D-43A0-8FB0-423B3C5B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B4D"/>
                </a:solidFill>
              </a:defRPr>
            </a:defPPr>
            <a:lvl1pPr>
              <a:defRPr sz="3300" b="1">
                <a:solidFill>
                  <a:srgbClr val="172B4D"/>
                </a:solidFill>
              </a:defRPr>
            </a:lvl1pPr>
            <a:lvl2pPr>
              <a:defRPr sz="3300" b="1">
                <a:solidFill>
                  <a:srgbClr val="172B4D"/>
                </a:solidFill>
              </a:defRPr>
            </a:lvl2pPr>
            <a:lvl3pPr>
              <a:defRPr sz="3300" b="1">
                <a:solidFill>
                  <a:srgbClr val="172B4D"/>
                </a:solidFill>
              </a:defRPr>
            </a:lvl3pPr>
            <a:lvl4pPr>
              <a:defRPr sz="3300" b="1">
                <a:solidFill>
                  <a:srgbClr val="172B4D"/>
                </a:solidFill>
              </a:defRPr>
            </a:lvl4pPr>
            <a:lvl5pPr>
              <a:defRPr sz="3300" b="1">
                <a:solidFill>
                  <a:srgbClr val="172B4D"/>
                </a:solidFill>
              </a:defRPr>
            </a:lvl5pPr>
            <a:lvl6pPr>
              <a:defRPr sz="3300" b="1">
                <a:solidFill>
                  <a:srgbClr val="172B4D"/>
                </a:solidFill>
              </a:defRPr>
            </a:lvl6pPr>
            <a:lvl7pPr>
              <a:defRPr sz="3300" b="1">
                <a:solidFill>
                  <a:srgbClr val="172B4D"/>
                </a:solidFill>
              </a:defRPr>
            </a:lvl7pPr>
            <a:lvl8pPr>
              <a:defRPr sz="3300" b="1">
                <a:solidFill>
                  <a:srgbClr val="172B4D"/>
                </a:solidFill>
              </a:defRPr>
            </a:lvl8pPr>
            <a:lvl9pPr>
              <a:defRPr sz="33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B4D"/>
                </a:solidFill>
              </a:defRPr>
            </a:pPr>
            <a:r>
              <a:rPr sz="3300" b="1">
                <a:solidFill>
                  <a:srgbClr val="172B4D"/>
                </a:solidFill>
              </a:rPr>
              <a:t>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3F8CB-1815-432F-9E24-8C8E163A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B4D"/>
                </a:solidFill>
              </a:defRPr>
            </a:defPPr>
            <a:lvl1pPr>
              <a:defRPr sz="2100" b="1">
                <a:solidFill>
                  <a:srgbClr val="172B4D"/>
                </a:solidFill>
              </a:defRPr>
            </a:lvl1pPr>
            <a:lvl2pPr>
              <a:defRPr sz="2100" b="1">
                <a:solidFill>
                  <a:srgbClr val="172B4D"/>
                </a:solidFill>
              </a:defRPr>
            </a:lvl2pPr>
            <a:lvl3pPr>
              <a:defRPr sz="2100" b="1">
                <a:solidFill>
                  <a:srgbClr val="172B4D"/>
                </a:solidFill>
              </a:defRPr>
            </a:lvl3pPr>
            <a:lvl4pPr>
              <a:defRPr sz="2100" b="1">
                <a:solidFill>
                  <a:srgbClr val="172B4D"/>
                </a:solidFill>
              </a:defRPr>
            </a:lvl4pPr>
            <a:lvl5pPr>
              <a:defRPr sz="2100" b="1">
                <a:solidFill>
                  <a:srgbClr val="172B4D"/>
                </a:solidFill>
              </a:defRPr>
            </a:lvl5pPr>
            <a:lvl6pPr>
              <a:defRPr sz="2100" b="1">
                <a:solidFill>
                  <a:srgbClr val="172B4D"/>
                </a:solidFill>
              </a:defRPr>
            </a:lvl6pPr>
            <a:lvl7pPr>
              <a:defRPr sz="2100" b="1">
                <a:solidFill>
                  <a:srgbClr val="172B4D"/>
                </a:solidFill>
              </a:defRPr>
            </a:lvl7pPr>
            <a:lvl8pPr>
              <a:defRPr sz="2100" b="1">
                <a:solidFill>
                  <a:srgbClr val="172B4D"/>
                </a:solidFill>
              </a:defRPr>
            </a:lvl8pPr>
            <a:lvl9pPr>
              <a:defRPr sz="21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B4D"/>
                </a:solidFill>
              </a:defRPr>
            </a:pPr>
            <a:r>
              <a:rPr sz="2100" b="1">
                <a:solidFill>
                  <a:srgbClr val="172B4D"/>
                </a:solidFill>
              </a:rPr>
              <a:t>Mean earnings rise across most age bands and peak at Rs 523,751 for ages 55–59.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054CF-259F-4182-8C5C-2B0CBD6F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3364D"/>
                </a:solidFill>
              </a:defRPr>
            </a:defPPr>
            <a:lvl1pPr>
              <a:defRPr sz="1875">
                <a:solidFill>
                  <a:srgbClr val="23364D"/>
                </a:solidFill>
              </a:defRPr>
            </a:lvl1pPr>
            <a:lvl2pPr>
              <a:defRPr sz="1875">
                <a:solidFill>
                  <a:srgbClr val="23364D"/>
                </a:solidFill>
              </a:defRPr>
            </a:lvl2pPr>
            <a:lvl3pPr>
              <a:defRPr sz="1875">
                <a:solidFill>
                  <a:srgbClr val="23364D"/>
                </a:solidFill>
              </a:defRPr>
            </a:lvl3pPr>
            <a:lvl4pPr>
              <a:defRPr sz="1875">
                <a:solidFill>
                  <a:srgbClr val="23364D"/>
                </a:solidFill>
              </a:defRPr>
            </a:lvl4pPr>
            <a:lvl5pPr>
              <a:defRPr sz="1875">
                <a:solidFill>
                  <a:srgbClr val="23364D"/>
                </a:solidFill>
              </a:defRPr>
            </a:lvl5pPr>
            <a:lvl6pPr>
              <a:defRPr sz="1875">
                <a:solidFill>
                  <a:srgbClr val="23364D"/>
                </a:solidFill>
              </a:defRPr>
            </a:lvl6pPr>
            <a:lvl7pPr>
              <a:defRPr sz="1875">
                <a:solidFill>
                  <a:srgbClr val="23364D"/>
                </a:solidFill>
              </a:defRPr>
            </a:lvl7pPr>
            <a:lvl8pPr>
              <a:defRPr sz="1875">
                <a:solidFill>
                  <a:srgbClr val="23364D"/>
                </a:solidFill>
              </a:defRPr>
            </a:lvl8pPr>
            <a:lvl9pPr>
              <a:defRPr sz="1875">
                <a:solidFill>
                  <a:srgbClr val="23364D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3364D"/>
                </a:solidFill>
              </a:defRPr>
            </a:pPr>
            <a:r>
              <a:rPr sz="1875">
                <a:solidFill>
                  <a:srgbClr val="23364D"/>
                </a:solidFill>
              </a:rPr>
              <a:t>The means for ages 50–54 and 55–59 are close: Rs 521,949 and Rs 523,751.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36B17-2EB9-4340-9372-F93233F7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3364D"/>
                </a:solidFill>
              </a:defRPr>
            </a:defPPr>
            <a:lvl1pPr>
              <a:defRPr sz="1875">
                <a:solidFill>
                  <a:srgbClr val="23364D"/>
                </a:solidFill>
              </a:defRPr>
            </a:lvl1pPr>
            <a:lvl2pPr>
              <a:defRPr sz="1875">
                <a:solidFill>
                  <a:srgbClr val="23364D"/>
                </a:solidFill>
              </a:defRPr>
            </a:lvl2pPr>
            <a:lvl3pPr>
              <a:defRPr sz="1875">
                <a:solidFill>
                  <a:srgbClr val="23364D"/>
                </a:solidFill>
              </a:defRPr>
            </a:lvl3pPr>
            <a:lvl4pPr>
              <a:defRPr sz="1875">
                <a:solidFill>
                  <a:srgbClr val="23364D"/>
                </a:solidFill>
              </a:defRPr>
            </a:lvl4pPr>
            <a:lvl5pPr>
              <a:defRPr sz="1875">
                <a:solidFill>
                  <a:srgbClr val="23364D"/>
                </a:solidFill>
              </a:defRPr>
            </a:lvl5pPr>
            <a:lvl6pPr>
              <a:defRPr sz="1875">
                <a:solidFill>
                  <a:srgbClr val="23364D"/>
                </a:solidFill>
              </a:defRPr>
            </a:lvl6pPr>
            <a:lvl7pPr>
              <a:defRPr sz="1875">
                <a:solidFill>
                  <a:srgbClr val="23364D"/>
                </a:solidFill>
              </a:defRPr>
            </a:lvl7pPr>
            <a:lvl8pPr>
              <a:defRPr sz="1875">
                <a:solidFill>
                  <a:srgbClr val="23364D"/>
                </a:solidFill>
              </a:defRPr>
            </a:lvl8pPr>
            <a:lvl9pPr>
              <a:defRPr sz="1875">
                <a:solidFill>
                  <a:srgbClr val="23364D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23364D"/>
                </a:solidFill>
              </a:defRPr>
            </a:pPr>
            <a:r>
              <a:rPr sz="1875">
                <a:solidFill>
                  <a:srgbClr val="23364D"/>
                </a:solidFill>
              </a:rPr>
              <a:t>The R and Python band tables agree to the rupee.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6E940-6428-4DB6-81F9-0974089F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526579"/>
                </a:solidFill>
              </a:defRPr>
            </a:defPPr>
            <a:lvl1pPr>
              <a:defRPr sz="1800">
                <a:solidFill>
                  <a:srgbClr val="526579"/>
                </a:solidFill>
              </a:defRPr>
            </a:lvl1pPr>
            <a:lvl2pPr>
              <a:defRPr sz="1800">
                <a:solidFill>
                  <a:srgbClr val="526579"/>
                </a:solidFill>
              </a:defRPr>
            </a:lvl2pPr>
            <a:lvl3pPr>
              <a:defRPr sz="1800">
                <a:solidFill>
                  <a:srgbClr val="526579"/>
                </a:solidFill>
              </a:defRPr>
            </a:lvl3pPr>
            <a:lvl4pPr>
              <a:defRPr sz="1800">
                <a:solidFill>
                  <a:srgbClr val="526579"/>
                </a:solidFill>
              </a:defRPr>
            </a:lvl4pPr>
            <a:lvl5pPr>
              <a:defRPr sz="1800">
                <a:solidFill>
                  <a:srgbClr val="526579"/>
                </a:solidFill>
              </a:defRPr>
            </a:lvl5pPr>
            <a:lvl6pPr>
              <a:defRPr sz="1800">
                <a:solidFill>
                  <a:srgbClr val="526579"/>
                </a:solidFill>
              </a:defRPr>
            </a:lvl6pPr>
            <a:lvl7pPr>
              <a:defRPr sz="1800">
                <a:solidFill>
                  <a:srgbClr val="526579"/>
                </a:solidFill>
              </a:defRPr>
            </a:lvl7pPr>
            <a:lvl8pPr>
              <a:defRPr sz="1800">
                <a:solidFill>
                  <a:srgbClr val="526579"/>
                </a:solidFill>
              </a:defRPr>
            </a:lvl8pPr>
            <a:lvl9pPr>
              <a:defRPr sz="180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>
              <a:defRPr sz="1800">
                <a:solidFill>
                  <a:srgbClr val="526579"/>
                </a:solidFill>
              </a:defRPr>
            </a:pPr>
            <a:r>
              <a:rPr sz="1800">
                <a:solidFill>
                  <a:srgbClr val="526579"/>
                </a:solidFill>
              </a:rPr>
              <a:t>This is a cross-sectional comparison of different people, not a record of how one person’s earnings change with age.</a:t>
            </a:r>
          </a:p>
        </p:txBody>
      </p:sp>
    </p:spTree>
    <p:extLst>
      <p:ext uri="{BB962C8B-B14F-4D97-AF65-F5344CB8AC3E}">
        <p14:creationId xmlns:p14="http://schemas.microsoft.com/office/powerpoint/2010/main" val="1135966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2026-10-23T03:29:26.6410000Z</dcterms:created>
  <dcterms:modified xsi:type="dcterms:W3CDTF">2026-10-23T03:29:26.6420000Z</dcterms:modified>
</coreProperties>
</file>