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15620"/>
    <p:restoredTop sz="94660"/>
  </p:normalViewPr>
  <p:slideViewPr>
    <p:cSldViewPr snapToGrid="0" snapToObjects="1">
      <p:cViewPr>
        <p:scale>
          <a:sx n="1" d="1"/>
          <a:sy n="1" d="1"/>
        </p:scale>
        <p:origin x="-48" y="140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chart1.xml><?xml version="1.0" encoding="utf-8"?>
<c:chartSpace xmlns:c="http://schemas.openxmlformats.org/drawingml/2006/chart" xmlns:a="http://schemas.openxmlformats.org/drawingml/2006/main" xmlns:r="http://schemas.openxmlformats.org/officeDocument/2006/relationships">
  <c:date1904 val="1"/>
  <c:lang val="en-US"/>
  <c:roundedCorners val="1"/>
  <c:style val="2"/>
  <c:chart>
    <c:title>
      <c:tx>
        <c:rich>
          <a:bodyPr/>
          <a:lstStyle/>
          <a:p>
            <a:r>
              <a:rPr lang="en-US" sz="1400" b="0" i="0" u="none" strike="noStrike">
                <a:solidFill>
                  <a:srgbClr val="1F2933"/>
                </a:solidFill>
                <a:latin typeface="+mn-lt"/>
                <a:ea typeface="+mn-lt"/>
                <a:cs typeface="+mn-lt"/>
              </a:rPr>
              <a:t>Weighted density of annual earnings (log scale)</a:t>
            </a:r>
          </a:p>
        </c:rich>
      </c:tx>
      <c:layout/>
      <c:overlay val="0"/>
    </c:title>
    <c:autoTitleDeleted val="0"/>
    <c:plotArea>
      <c:layout/>
      <c:barChart>
        <c:barDir val="col"/>
        <c:grouping val="clustered"/>
        <c:varyColors val="0"/>
        <c:ser>
          <c:idx val="0"/>
          <c:order val="0"/>
          <c:tx>
            <c:strRef>
              <c:f>Sheet1!$B$1</c:f>
              <c:strCache>
                <c:ptCount val="1"/>
                <c:pt idx="0">
                  <c:v>Density</c:v>
                </c:pt>
              </c:strCache>
            </c:strRef>
          </c:tx>
          <c:spPr>
            <a:solidFill>
              <a:srgbClr val="5B7F6E"/>
            </a:solidFill>
          </c:spPr>
          <c:invertIfNegative val="0"/>
          <c:dPt>
            <c:idx val="0"/>
            <c:invertIfNegative val="0"/>
            <c:bubble3D val="0"/>
          </c:dPt>
          <c:dPt>
            <c:idx val="1"/>
            <c:invertIfNegative val="0"/>
            <c:bubble3D val="0"/>
          </c:dPt>
          <c:dPt>
            <c:idx val="2"/>
            <c:invertIfNegative val="0"/>
            <c:bubble3D val="0"/>
          </c:dPt>
          <c:dPt>
            <c:idx val="3"/>
            <c:invertIfNegative val="0"/>
            <c:bubble3D val="0"/>
          </c:dPt>
          <c:dPt>
            <c:idx val="4"/>
            <c:invertIfNegative val="0"/>
            <c:bubble3D val="0"/>
          </c:dPt>
          <c:dPt>
            <c:idx val="5"/>
            <c:invertIfNegative val="0"/>
            <c:bubble3D val="0"/>
          </c:dPt>
          <c:dPt>
            <c:idx val="6"/>
            <c:invertIfNegative val="0"/>
            <c:bubble3D val="0"/>
          </c:dPt>
          <c:dPt>
            <c:idx val="7"/>
            <c:invertIfNegative val="0"/>
            <c:bubble3D val="0"/>
          </c:dPt>
          <c:dPt>
            <c:idx val="8"/>
            <c:invertIfNegative val="0"/>
            <c:bubble3D val="0"/>
          </c:dPt>
          <c:dPt>
            <c:idx val="9"/>
            <c:invertIfNegative val="0"/>
            <c:bubble3D val="0"/>
          </c:dPt>
          <c:dPt>
            <c:idx val="10"/>
            <c:invertIfNegative val="0"/>
            <c:bubble3D val="0"/>
          </c:dPt>
          <c:dPt>
            <c:idx val="11"/>
            <c:invertIfNegative val="0"/>
            <c:bubble3D val="0"/>
          </c:dPt>
          <c:dPt>
            <c:idx val="12"/>
            <c:invertIfNegative val="0"/>
            <c:bubble3D val="0"/>
          </c:dPt>
          <c:dPt>
            <c:idx val="13"/>
            <c:invertIfNegative val="0"/>
            <c:bubble3D val="0"/>
            <c:spPr>
              <a:solidFill>
                <a:srgbClr val="B8902F"/>
              </a:solidFill>
            </c:spPr>
          </c:dPt>
          <c:dPt>
            <c:idx val="14"/>
            <c:invertIfNegative val="0"/>
            <c:bubble3D val="0"/>
          </c:dPt>
          <c:dPt>
            <c:idx val="15"/>
            <c:invertIfNegative val="0"/>
            <c:bubble3D val="0"/>
          </c:dPt>
          <c:dPt>
            <c:idx val="16"/>
            <c:invertIfNegative val="0"/>
            <c:bubble3D val="0"/>
          </c:dPt>
          <c:dPt>
            <c:idx val="17"/>
            <c:invertIfNegative val="0"/>
            <c:bubble3D val="0"/>
          </c:dPt>
          <c:dPt>
            <c:idx val="18"/>
            <c:invertIfNegative val="0"/>
            <c:bubble3D val="0"/>
            <c:spPr>
              <a:solidFill>
                <a:srgbClr val="A23B2A"/>
              </a:solidFill>
            </c:spPr>
          </c:dPt>
          <c:dPt>
            <c:idx val="19"/>
            <c:invertIfNegative val="0"/>
            <c:bubble3D val="0"/>
          </c:dPt>
          <c:dPt>
            <c:idx val="20"/>
            <c:invertIfNegative val="0"/>
            <c:bubble3D val="0"/>
          </c:dPt>
          <c:dPt>
            <c:idx val="21"/>
            <c:invertIfNegative val="0"/>
            <c:bubble3D val="0"/>
          </c:dPt>
          <c:dPt>
            <c:idx val="22"/>
            <c:invertIfNegative val="0"/>
            <c:bubble3D val="0"/>
          </c:dPt>
          <c:dPt>
            <c:idx val="23"/>
            <c:invertIfNegative val="0"/>
            <c:bubble3D val="0"/>
          </c:dPt>
          <c:dPt>
            <c:idx val="24"/>
            <c:invertIfNegative val="0"/>
            <c:bubble3D val="0"/>
          </c:dPt>
          <c:dPt>
            <c:idx val="25"/>
            <c:invertIfNegative val="0"/>
            <c:bubble3D val="0"/>
          </c:dPt>
          <c:dPt>
            <c:idx val="26"/>
            <c:invertIfNegative val="0"/>
            <c:bubble3D val="0"/>
          </c:dPt>
          <c:dPt>
            <c:idx val="27"/>
            <c:invertIfNegative val="0"/>
            <c:bubble3D val="0"/>
          </c:dPt>
          <c:dPt>
            <c:idx val="28"/>
            <c:invertIfNegative val="0"/>
            <c:bubble3D val="0"/>
          </c:dPt>
          <c:dPt>
            <c:idx val="29"/>
            <c:invertIfNegative val="0"/>
            <c:bubble3D val="0"/>
          </c:dPt>
          <c:cat>
            <c:strRef>
              <c:f>Sheet1!$A$2:$A$31</c:f>
              <c:strCache>
                <c:ptCount val="30"/>
                <c:pt idx="0">
                  <c:v>Rs 10k</c:v>
                </c:pt>
                <c:pt idx="1">
                  <c:v>Rs 13k</c:v>
                </c:pt>
                <c:pt idx="2">
                  <c:v>Rs 16k</c:v>
                </c:pt>
                <c:pt idx="3">
                  <c:v>Rs 20k</c:v>
                </c:pt>
                <c:pt idx="4">
                  <c:v>Rs 25k</c:v>
                </c:pt>
                <c:pt idx="5">
                  <c:v>Rs 32k</c:v>
                </c:pt>
                <c:pt idx="6">
                  <c:v>Rs 40k</c:v>
                </c:pt>
                <c:pt idx="7">
                  <c:v>Rs 50k</c:v>
                </c:pt>
                <c:pt idx="8">
                  <c:v>Rs 63k</c:v>
                </c:pt>
                <c:pt idx="9">
                  <c:v>Rs 79k</c:v>
                </c:pt>
                <c:pt idx="10">
                  <c:v>Rs 100k</c:v>
                </c:pt>
                <c:pt idx="11">
                  <c:v>Rs 126k</c:v>
                </c:pt>
                <c:pt idx="12">
                  <c:v>Rs 158k</c:v>
                </c:pt>
                <c:pt idx="13">
                  <c:v>Rs 200k</c:v>
                </c:pt>
                <c:pt idx="14">
                  <c:v>Rs 251k</c:v>
                </c:pt>
                <c:pt idx="15">
                  <c:v>Rs 316k</c:v>
                </c:pt>
                <c:pt idx="16">
                  <c:v>Rs 398k</c:v>
                </c:pt>
                <c:pt idx="17">
                  <c:v>Rs 501k</c:v>
                </c:pt>
                <c:pt idx="18">
                  <c:v>Rs 631k</c:v>
                </c:pt>
                <c:pt idx="19">
                  <c:v>Rs 794k</c:v>
                </c:pt>
                <c:pt idx="20">
                  <c:v>Rs 1.0m</c:v>
                </c:pt>
                <c:pt idx="21">
                  <c:v>Rs 1.3m</c:v>
                </c:pt>
                <c:pt idx="22">
                  <c:v>Rs 1.6m</c:v>
                </c:pt>
                <c:pt idx="23">
                  <c:v>Rs 2.0m</c:v>
                </c:pt>
                <c:pt idx="24">
                  <c:v>Rs 2.5m</c:v>
                </c:pt>
                <c:pt idx="25">
                  <c:v>Rs 3.2m</c:v>
                </c:pt>
                <c:pt idx="26">
                  <c:v>Rs 4.0m</c:v>
                </c:pt>
                <c:pt idx="27">
                  <c:v>Rs 5.0m</c:v>
                </c:pt>
                <c:pt idx="28">
                  <c:v>Rs 6.3m</c:v>
                </c:pt>
                <c:pt idx="29">
                  <c:v>Rs 7.9m</c:v>
                </c:pt>
              </c:strCache>
            </c:strRef>
          </c:cat>
          <c:val>
            <c:numRef>
              <c:f>Sheet1!$B$2:$B$31</c:f>
              <c:numCache>
                <c:formatCode>General</c:formatCode>
                <c:ptCount val="30"/>
                <c:pt idx="0">
                  <c:v>1.6E-2</c:v>
                </c:pt>
                <c:pt idx="1">
                  <c:v>2.1000000000000001E-2</c:v>
                </c:pt>
                <c:pt idx="2">
                  <c:v>2.3E-2</c:v>
                </c:pt>
                <c:pt idx="3">
                  <c:v>6.2E-2</c:v>
                </c:pt>
                <c:pt idx="4">
                  <c:v>3.2000000000000001E-2</c:v>
                </c:pt>
                <c:pt idx="5">
                  <c:v>7.9000000000000001E-2</c:v>
                </c:pt>
                <c:pt idx="6">
                  <c:v>0.13400000000000001</c:v>
                </c:pt>
                <c:pt idx="7">
                  <c:v>0.189</c:v>
                </c:pt>
                <c:pt idx="8">
                  <c:v>0.16300000000000001</c:v>
                </c:pt>
                <c:pt idx="9">
                  <c:v>0.32400000000000001</c:v>
                </c:pt>
                <c:pt idx="10">
                  <c:v>0.502</c:v>
                </c:pt>
                <c:pt idx="11">
                  <c:v>0.67500000000000004</c:v>
                </c:pt>
                <c:pt idx="12">
                  <c:v>1.3640000000000001</c:v>
                </c:pt>
                <c:pt idx="13">
                  <c:v>1.6040000000000001</c:v>
                </c:pt>
                <c:pt idx="14">
                  <c:v>1.3380000000000001</c:v>
                </c:pt>
                <c:pt idx="15">
                  <c:v>0.98</c:v>
                </c:pt>
                <c:pt idx="16">
                  <c:v>0.84699999999999998</c:v>
                </c:pt>
                <c:pt idx="17">
                  <c:v>0.57999999999999996</c:v>
                </c:pt>
                <c:pt idx="18">
                  <c:v>0.38</c:v>
                </c:pt>
                <c:pt idx="19">
                  <c:v>0.255</c:v>
                </c:pt>
                <c:pt idx="20">
                  <c:v>0.156</c:v>
                </c:pt>
                <c:pt idx="21">
                  <c:v>8.7999999999999995E-2</c:v>
                </c:pt>
                <c:pt idx="22">
                  <c:v>6.8000000000000005E-2</c:v>
                </c:pt>
                <c:pt idx="23">
                  <c:v>0.05</c:v>
                </c:pt>
                <c:pt idx="24">
                  <c:v>2.4E-2</c:v>
                </c:pt>
                <c:pt idx="25">
                  <c:v>1.0999999999999999E-2</c:v>
                </c:pt>
                <c:pt idx="26">
                  <c:v>1.4E-2</c:v>
                </c:pt>
                <c:pt idx="27">
                  <c:v>6.0000000000000001E-3</c:v>
                </c:pt>
                <c:pt idx="28">
                  <c:v>5.0000000000000001E-3</c:v>
                </c:pt>
                <c:pt idx="29">
                  <c:v>1.2E-2</c:v>
                </c:pt>
              </c:numCache>
            </c:numRef>
          </c:val>
        </c:ser>
        <c:dLbls>
          <c:showLegendKey val="0"/>
          <c:showVal val="0"/>
          <c:showCatName val="0"/>
          <c:showSerName val="0"/>
          <c:showPercent val="0"/>
          <c:showBubbleSize val="0"/>
        </c:dLbls>
        <c:gapWidth val="8"/>
        <c:axId val="136455168"/>
        <c:axId val="147409152"/>
      </c:barChart>
      <c:catAx>
        <c:axId val="136455168"/>
        <c:scaling>
          <c:orientation val="minMax"/>
        </c:scaling>
        <c:delete val="0"/>
        <c:axPos val="b"/>
        <c:title>
          <c:tx>
            <c:rich>
              <a:bodyPr/>
              <a:lstStyle/>
              <a:p>
                <a:pPr>
                  <a:buNone/>
                  <a:defRPr sz="1200" b="0" i="0" u="none" strike="noStrike">
                    <a:solidFill>
                      <a:srgbClr val="1F2933"/>
                    </a:solidFill>
                    <a:latin typeface="+mn-lt"/>
                    <a:ea typeface="+mn-lt"/>
                    <a:cs typeface="+mn-lt"/>
                  </a:defRPr>
                </a:pPr>
                <a:r>
                  <a:rPr lang="en-US" sz="1200" b="0" i="0" u="none" strike="noStrike">
                    <a:solidFill>
                      <a:srgbClr val="1F2933"/>
                    </a:solidFill>
                    <a:latin typeface="+mn-lt"/>
                    <a:ea typeface="+mn-lt"/>
                    <a:cs typeface="+mn-lt"/>
                  </a:rPr>
                  <a:t>Annual earnings (bins of 0.1 log10 units)</a:t>
                </a:r>
              </a:p>
            </c:rich>
          </c:tx>
          <c:layout/>
          <c:overlay val="0"/>
        </c:title>
        <c:numFmt formatCode="General" sourceLinked="1"/>
        <c:majorTickMark val="out"/>
        <c:minorTickMark val="none"/>
        <c:tickLblPos val="low"/>
        <c:spPr>
          <a:ln w="12700">
            <a:solidFill>
              <a:srgbClr val="888888"/>
            </a:solidFill>
            <a:prstDash val="solid"/>
          </a:ln>
        </c:spPr>
        <c:txPr>
          <a:bodyPr anchorCtr="1"/>
          <a:lstStyle/>
          <a:p>
            <a:pPr>
              <a:defRPr sz="1200" b="0" i="0" u="none" strike="noStrike">
                <a:solidFill>
                  <a:srgbClr val="1F2933"/>
                </a:solidFill>
                <a:latin typeface="+mn-lt"/>
                <a:ea typeface="+mn-lt"/>
                <a:cs typeface="+mn-lt"/>
              </a:defRPr>
            </a:pPr>
            <a:endParaRPr lang="en-US"/>
          </a:p>
        </c:txPr>
        <c:crossAx val="147409152"/>
        <c:crosses val="autoZero"/>
        <c:auto val="1"/>
        <c:lblAlgn val="ctr"/>
        <c:lblOffset val="100"/>
        <c:tickLblSkip val="5"/>
        <c:noMultiLvlLbl val="1"/>
      </c:catAx>
      <c:valAx>
        <c:axId val="147409152"/>
        <c:scaling>
          <c:orientation val="minMax"/>
        </c:scaling>
        <c:delete val="0"/>
        <c:axPos val="l"/>
        <c:majorGridlines>
          <c:spPr>
            <a:ln w="9525">
              <a:solidFill>
                <a:srgbClr val="E2E8E4"/>
              </a:solidFill>
              <a:prstDash val="solid"/>
            </a:ln>
          </c:spPr>
        </c:majorGridlines>
        <c:title>
          <c:tx>
            <c:rich>
              <a:bodyPr/>
              <a:lstStyle/>
              <a:p>
                <a:pPr>
                  <a:buNone/>
                  <a:defRPr sz="1200" b="0" i="0" u="none" strike="noStrike">
                    <a:solidFill>
                      <a:srgbClr val="1F2933"/>
                    </a:solidFill>
                    <a:latin typeface="+mn-lt"/>
                    <a:ea typeface="+mn-lt"/>
                    <a:cs typeface="+mn-lt"/>
                  </a:defRPr>
                </a:pPr>
                <a:r>
                  <a:rPr lang="en-US" sz="1200" b="0" i="0" u="none" strike="noStrike">
                    <a:solidFill>
                      <a:srgbClr val="1F2933"/>
                    </a:solidFill>
                    <a:latin typeface="+mn-lt"/>
                    <a:ea typeface="+mn-lt"/>
                    <a:cs typeface="+mn-lt"/>
                  </a:rPr>
                  <a:t>Density per log10 unit</a:t>
                </a:r>
              </a:p>
            </c:rich>
          </c:tx>
          <c:layout/>
          <c:overlay val="0"/>
        </c:title>
        <c:numFmt formatCode="0.0" sourceLinked="0"/>
        <c:majorTickMark val="out"/>
        <c:minorTickMark val="none"/>
        <c:tickLblPos val="nextTo"/>
        <c:spPr>
          <a:ln w="12700">
            <a:solidFill>
              <a:srgbClr val="888888"/>
            </a:solidFill>
            <a:prstDash val="solid"/>
          </a:ln>
        </c:spPr>
        <c:txPr>
          <a:bodyPr anchorCtr="1"/>
          <a:lstStyle/>
          <a:p>
            <a:pPr>
              <a:defRPr sz="1200" b="0" i="0" u="none" strike="noStrike">
                <a:solidFill>
                  <a:srgbClr val="1F2933"/>
                </a:solidFill>
                <a:latin typeface="+mn-lt"/>
                <a:ea typeface="+mn-lt"/>
                <a:cs typeface="+mn-lt"/>
              </a:defRPr>
            </a:pPr>
            <a:endParaRPr lang="en-US"/>
          </a:p>
        </c:txPr>
        <c:crossAx val="136455168"/>
        <c:crosses val="autoZero"/>
        <c:crossBetween val="between"/>
      </c:valAx>
      <c:spPr>
        <a:noFill/>
        <a:ln>
          <a:noFill/>
        </a:ln>
      </c:spPr>
    </c:plotArea>
    <c:plotVisOnly val="1"/>
    <c:dispBlanksAs val="span"/>
    <c:showDLblsOverMax val="1"/>
  </c:chart>
  <c:spPr>
    <a:noFill/>
    <a:ln>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1"/>
  <c:lang val="en-US"/>
  <c:roundedCorners val="1"/>
  <c:style val="2"/>
  <c:chart>
    <c:title>
      <c:tx>
        <c:rich>
          <a:bodyPr/>
          <a:lstStyle/>
          <a:p>
            <a:r>
              <a:rPr lang="en-US" sz="1400" b="0" i="0" u="none" strike="noStrike">
                <a:solidFill>
                  <a:srgbClr val="1F2933"/>
                </a:solidFill>
                <a:latin typeface="+mn-lt"/>
                <a:ea typeface="+mn-lt"/>
                <a:cs typeface="+mn-lt"/>
              </a:rPr>
              <a:t>Weighted mean annual earnings by five-year age band (Rs thousand)</a:t>
            </a:r>
          </a:p>
        </c:rich>
      </c:tx>
      <c:layout/>
      <c:overlay val="0"/>
    </c:title>
    <c:autoTitleDeleted val="0"/>
    <c:plotArea>
      <c:layout/>
      <c:barChart>
        <c:barDir val="col"/>
        <c:grouping val="clustered"/>
        <c:varyColors val="0"/>
        <c:ser>
          <c:idx val="0"/>
          <c:order val="0"/>
          <c:tx>
            <c:strRef>
              <c:f>Sheet1!$B$1</c:f>
              <c:strCache>
                <c:ptCount val="1"/>
                <c:pt idx="0">
                  <c:v>Weighted mean (Rs thousand)</c:v>
                </c:pt>
              </c:strCache>
            </c:strRef>
          </c:tx>
          <c:spPr>
            <a:solidFill>
              <a:srgbClr val="0B3D2E"/>
            </a:solidFill>
          </c:spPr>
          <c:invertIfNegative val="0"/>
          <c:dPt>
            <c:idx val="0"/>
            <c:invertIfNegative val="0"/>
            <c:bubble3D val="0"/>
          </c:dPt>
          <c:dPt>
            <c:idx val="1"/>
            <c:invertIfNegative val="0"/>
            <c:bubble3D val="0"/>
          </c:dPt>
          <c:dPt>
            <c:idx val="2"/>
            <c:invertIfNegative val="0"/>
            <c:bubble3D val="0"/>
          </c:dPt>
          <c:dPt>
            <c:idx val="3"/>
            <c:invertIfNegative val="0"/>
            <c:bubble3D val="0"/>
          </c:dPt>
          <c:dPt>
            <c:idx val="4"/>
            <c:invertIfNegative val="0"/>
            <c:bubble3D val="0"/>
          </c:dPt>
          <c:dPt>
            <c:idx val="5"/>
            <c:invertIfNegative val="0"/>
            <c:bubble3D val="0"/>
          </c:dPt>
          <c:dPt>
            <c:idx val="6"/>
            <c:invertIfNegative val="0"/>
            <c:bubble3D val="0"/>
          </c:dPt>
          <c:dPt>
            <c:idx val="7"/>
            <c:invertIfNegative val="0"/>
            <c:bubble3D val="0"/>
          </c:dPt>
          <c:dPt>
            <c:idx val="8"/>
            <c:invertIfNegative val="0"/>
            <c:bubble3D val="0"/>
            <c:spPr>
              <a:solidFill>
                <a:srgbClr val="B8902F"/>
              </a:solidFill>
            </c:spPr>
          </c:dPt>
          <c:dPt>
            <c:idx val="9"/>
            <c:invertIfNegative val="0"/>
            <c:bubble3D val="0"/>
          </c:dPt>
          <c:dLbls>
            <c:numFmt formatCode="#,##0" sourceLinked="0"/>
            <c:txPr>
              <a:bodyPr anchorCtr="1"/>
              <a:lstStyle/>
              <a:p>
                <a:pPr>
                  <a:defRPr sz="1200" b="0" i="0" u="none" strike="noStrike">
                    <a:solidFill>
                      <a:srgbClr val="1F2933"/>
                    </a:solidFill>
                    <a:latin typeface="+mn-lt"/>
                    <a:ea typeface="+mn-lt"/>
                    <a:cs typeface="+mn-lt"/>
                  </a:defRPr>
                </a:pPr>
                <a:endParaRPr lang="en-US"/>
              </a:p>
            </c:txPr>
            <c:showLegendKey val="0"/>
            <c:showVal val="1"/>
            <c:showCatName val="0"/>
            <c:showSerName val="0"/>
            <c:showPercent val="0"/>
            <c:showBubbleSize val="0"/>
            <c:showLeaderLines val="0"/>
          </c:dLbls>
          <c:cat>
            <c:strRef>
              <c:f>Sheet1!$A$2:$A$11</c:f>
              <c:strCache>
                <c:ptCount val="10"/>
                <c:pt idx="0">
                  <c:v>15-19</c:v>
                </c:pt>
                <c:pt idx="1">
                  <c:v>20-24</c:v>
                </c:pt>
                <c:pt idx="2">
                  <c:v>25-29</c:v>
                </c:pt>
                <c:pt idx="3">
                  <c:v>30-34</c:v>
                </c:pt>
                <c:pt idx="4">
                  <c:v>35-39</c:v>
                </c:pt>
                <c:pt idx="5">
                  <c:v>40-44</c:v>
                </c:pt>
                <c:pt idx="6">
                  <c:v>45-49</c:v>
                </c:pt>
                <c:pt idx="7">
                  <c:v>50-54</c:v>
                </c:pt>
                <c:pt idx="8">
                  <c:v>55-59</c:v>
                </c:pt>
                <c:pt idx="9">
                  <c:v>60-64</c:v>
                </c:pt>
              </c:strCache>
            </c:strRef>
          </c:cat>
          <c:val>
            <c:numRef>
              <c:f>Sheet1!$B$2:$B$11</c:f>
              <c:numCache>
                <c:formatCode>General</c:formatCode>
                <c:ptCount val="10"/>
                <c:pt idx="0">
                  <c:v>145</c:v>
                </c:pt>
                <c:pt idx="1">
                  <c:v>217</c:v>
                </c:pt>
                <c:pt idx="2">
                  <c:v>321</c:v>
                </c:pt>
                <c:pt idx="3">
                  <c:v>370</c:v>
                </c:pt>
                <c:pt idx="4">
                  <c:v>354</c:v>
                </c:pt>
                <c:pt idx="5">
                  <c:v>499</c:v>
                </c:pt>
                <c:pt idx="6">
                  <c:v>465</c:v>
                </c:pt>
                <c:pt idx="7">
                  <c:v>522</c:v>
                </c:pt>
                <c:pt idx="8">
                  <c:v>524</c:v>
                </c:pt>
                <c:pt idx="9">
                  <c:v>453</c:v>
                </c:pt>
              </c:numCache>
            </c:numRef>
          </c:val>
        </c:ser>
        <c:dLbls>
          <c:showLegendKey val="0"/>
          <c:showVal val="1"/>
          <c:showCatName val="0"/>
          <c:showSerName val="0"/>
          <c:showPercent val="0"/>
          <c:showBubbleSize val="0"/>
        </c:dLbls>
        <c:gapWidth val="35"/>
        <c:axId val="136237056"/>
        <c:axId val="147413760"/>
      </c:barChart>
      <c:catAx>
        <c:axId val="136237056"/>
        <c:scaling>
          <c:orientation val="minMax"/>
        </c:scaling>
        <c:delete val="0"/>
        <c:axPos val="b"/>
        <c:title>
          <c:tx>
            <c:rich>
              <a:bodyPr/>
              <a:lstStyle/>
              <a:p>
                <a:pPr>
                  <a:buNone/>
                  <a:defRPr sz="1200" b="0" i="0" u="none" strike="noStrike">
                    <a:solidFill>
                      <a:srgbClr val="1F2933"/>
                    </a:solidFill>
                    <a:latin typeface="+mn-lt"/>
                    <a:ea typeface="+mn-lt"/>
                    <a:cs typeface="+mn-lt"/>
                  </a:defRPr>
                </a:pPr>
                <a:r>
                  <a:rPr lang="en-US" sz="1200" b="0" i="0" u="none" strike="noStrike">
                    <a:solidFill>
                      <a:srgbClr val="1F2933"/>
                    </a:solidFill>
                    <a:latin typeface="+mn-lt"/>
                    <a:ea typeface="+mn-lt"/>
                    <a:cs typeface="+mn-lt"/>
                  </a:rPr>
                  <a:t>Age band (years)</a:t>
                </a:r>
              </a:p>
            </c:rich>
          </c:tx>
          <c:layout/>
          <c:overlay val="0"/>
        </c:title>
        <c:numFmt formatCode="General" sourceLinked="1"/>
        <c:majorTickMark val="out"/>
        <c:minorTickMark val="none"/>
        <c:tickLblPos val="low"/>
        <c:spPr>
          <a:ln w="12700">
            <a:solidFill>
              <a:srgbClr val="888888"/>
            </a:solidFill>
            <a:prstDash val="solid"/>
          </a:ln>
        </c:spPr>
        <c:txPr>
          <a:bodyPr anchorCtr="1"/>
          <a:lstStyle/>
          <a:p>
            <a:pPr>
              <a:defRPr sz="1200" b="0" i="0" u="none" strike="noStrike">
                <a:solidFill>
                  <a:srgbClr val="1F2933"/>
                </a:solidFill>
                <a:latin typeface="+mn-lt"/>
                <a:ea typeface="+mn-lt"/>
                <a:cs typeface="+mn-lt"/>
              </a:defRPr>
            </a:pPr>
            <a:endParaRPr lang="en-US"/>
          </a:p>
        </c:txPr>
        <c:crossAx val="147413760"/>
        <c:crosses val="autoZero"/>
        <c:auto val="1"/>
        <c:lblAlgn val="ctr"/>
        <c:lblOffset val="100"/>
        <c:noMultiLvlLbl val="1"/>
      </c:catAx>
      <c:valAx>
        <c:axId val="147413760"/>
        <c:scaling>
          <c:orientation val="minMax"/>
          <c:max val="600"/>
          <c:min val="0"/>
        </c:scaling>
        <c:delete val="0"/>
        <c:axPos val="l"/>
        <c:majorGridlines>
          <c:spPr>
            <a:ln w="9525">
              <a:solidFill>
                <a:srgbClr val="E2E8E4"/>
              </a:solidFill>
              <a:prstDash val="solid"/>
            </a:ln>
          </c:spPr>
        </c:majorGridlines>
        <c:numFmt formatCode="#,##0" sourceLinked="0"/>
        <c:majorTickMark val="out"/>
        <c:minorTickMark val="none"/>
        <c:tickLblPos val="nextTo"/>
        <c:spPr>
          <a:ln w="12700">
            <a:solidFill>
              <a:srgbClr val="888888"/>
            </a:solidFill>
            <a:prstDash val="solid"/>
          </a:ln>
        </c:spPr>
        <c:txPr>
          <a:bodyPr anchorCtr="1"/>
          <a:lstStyle/>
          <a:p>
            <a:pPr>
              <a:defRPr sz="1200" b="0" i="0" u="none" strike="noStrike">
                <a:solidFill>
                  <a:srgbClr val="1F2933"/>
                </a:solidFill>
                <a:latin typeface="+mn-lt"/>
                <a:ea typeface="+mn-lt"/>
                <a:cs typeface="+mn-lt"/>
              </a:defRPr>
            </a:pPr>
            <a:endParaRPr lang="en-US"/>
          </a:p>
        </c:txPr>
        <c:crossAx val="136237056"/>
        <c:crosses val="autoZero"/>
        <c:crossBetween val="between"/>
      </c:valAx>
      <c:spPr>
        <a:noFill/>
        <a:ln>
          <a:noFill/>
        </a:ln>
      </c:spPr>
    </c:plotArea>
    <c:plotVisOnly val="1"/>
    <c:dispBlanksAs val="span"/>
    <c:showDLblsOverMax val="1"/>
  </c:chart>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extLst>
      <p:ext uri="{BB962C8B-B14F-4D97-AF65-F5344CB8AC3E}">
        <p14:creationId xmlns:p14="http://schemas.microsoft.com/office/powerpoint/2010/main" val="20345771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Opening. This presentation studies annual earnings among workers in the Pakistan Social and Living Standards Measurement (PSLM) survey, 2019-20, for the assigned variant. It answers three questions: how earnings are distributed, how they change with age, and whether the findings are robust to the choice of software.</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headline results. The weighted median is Rs 240,000 per year. The 90th percentile is Rs 660,000 against Rs 96,000 at the 10th, a ratio of 6.88. Mean earnings peak in the 55 to 59 band, though the profile is nearly flat from 50 to 59.</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analysis uses the course subset of PSLM. Individuals are linked to household weights through the household identifier. The assigned variant restricts the sample to one province and area type, leaving 3,768 earners aged 15 to 64.</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histogram is weighted and drawn on a log10 axis because earnings are heavily right-skewed. The mass sits between roughly Rs 100,000 and Rs 500,000. The right tail extends toward Rs 10 million. Percentiles use the weighted definition: sort by earnings, accumulate the weight share, and take the smallest value whose share reaches p.</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data features readers should keep in mind. First, heaping: about 7 percent of earners report exactly Rs 240,000. Second, a small number of extreme values lie outside the plotting range. Neither alters the headline conclusions, but both are disclosed.</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Weighted band means from the five-year age bands. The 55 to 59 band is highest at Rs 523,751, but the difference from the 50 to 54 band (Rs 521,949) is only Rs 1,802, so the peak should be read as a plateau, not a sharp maximum.</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Full band table. Percentage changes are computed from the rounded weighted means. Because no band falls below 30 earners, no hollow thin-band markers are needed in the scatter figure.</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design choices are deliberate. Weighted statistics follow the paper's definition. The log axis handles skew. The redesign hides 25 off-axis points, which the caption discloses.</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same band table and figure were rebuilt in Python. Script 04 prints True when its table equals the R table. The figures were also re-computed independently from the raw CSV files while preparing this deck, and all ten bands agree.</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caveats. The age profile is cross-sectional and mixes cohorts. Reported earnings are heaped at round numbers. The redesigned scatter intentionally omits 25 extreme points.</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with the three findings and the natural next steps: uncertainty quantification, sensitivity to heaping, and panel data to distinguish ageing from cohort effects. Invite questions.</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B3D2E"/>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xmlns="" id="{5151B663-C7D9-4A3E-BF4C-EDC39D8803FF}"/>
              </a:ext>
            </a:extLst>
          </p:cNvPr>
          <p:cNvSpPr>
            <a:spLocks noGrp="1"/>
          </p:cNvSpPr>
          <p:nvPr/>
        </p:nvSpPr>
        <p:spPr>
          <a:xfrm>
            <a:off x="548640" y="6355080"/>
            <a:ext cx="7315200" cy="274320"/>
          </a:xfrm>
          <a:prstGeom prst="rect">
            <a:avLst/>
          </a:prstGeom>
          <a:noFill/>
        </p:spPr>
        <p:txBody>
          <a:bodyPr wrap="square" lIns="0" tIns="0" rIns="0" bIns="0" anchor="ctr"/>
          <a:lstStyle/>
          <a:p>
            <a:pPr marL="0" indent="0">
              <a:buNone/>
            </a:pPr>
            <a:r>
              <a:rPr sz="1000">
                <a:solidFill>
                  <a:srgbClr val="8A9A91"/>
                </a:solidFill>
              </a:rPr>
              <a:t>ECO346  |  Earnings in PSLM 2019-20  |  FA24-BED-009</a:t>
            </a:r>
            <a:endParaRPr sz="1000"/>
          </a:p>
        </p:txBody>
      </p:sp>
      <p:sp>
        <p:nvSpPr>
          <p:cNvPr id="3" name="Text 1">
            <a:extLst>
              <a:ext uri="{FF2B5EF4-FFF2-40B4-BE49-F238E27FC236}">
                <a16:creationId xmlns:a16="http://schemas.microsoft.com/office/drawing/2014/main" xmlns="" id="{96DEA7C7-4BAA-499F-9DCC-0ED9EA61A814}"/>
              </a:ext>
            </a:extLst>
          </p:cNvPr>
          <p:cNvSpPr>
            <a:spLocks noGrp="1"/>
          </p:cNvSpPr>
          <p:nvPr>
            <p:ph type="title" idx="101" hasCustomPrompt="1"/>
          </p:nvPr>
        </p:nvSpPr>
        <p:spPr>
          <a:xfrm>
            <a:off x="548640" y="365760"/>
            <a:ext cx="11091672" cy="914400"/>
          </a:xfrm>
          <a:prstGeom prst="rect">
            <a:avLst/>
          </a:prstGeom>
          <a:noFill/>
        </p:spPr>
        <p:txBody>
          <a:bodyPr wrap="square"/>
          <a:lstStyle>
            <a:lvl1pPr marL="0" indent="0" algn="l">
              <a:buNone/>
              <a:defRPr sz="3000" b="1">
                <a:solidFill>
                  <a:schemeClr val="tx2"/>
                </a:solidFill>
                <a:latin typeface="Cambria"/>
                <a:ea typeface="Cambria"/>
                <a:cs typeface="Cambria"/>
              </a:defRPr>
            </a:lvl1pPr>
          </a:lstStyle>
          <a:p>
            <a:pPr marL="0" indent="0" algn="l">
              <a:buNone/>
            </a:pPr>
            <a:endParaRPr sz="3000"/>
          </a:p>
        </p:txBody>
      </p:sp>
      <p:sp>
        <p:nvSpPr>
          <p:cNvPr id="25" name="Slide Number Placeholder 0">
            <a:extLst>
              <a:ext uri="{FF2B5EF4-FFF2-40B4-BE49-F238E27FC236}">
                <a16:creationId xmlns:a16="http://schemas.microsoft.com/office/drawing/2014/main" xmlns="" id="{4A35C4D3-D250-4FBB-BEF3-2546349B65E0}"/>
              </a:ext>
            </a:extLst>
          </p:cNvPr>
          <p:cNvSpPr>
            <a:spLocks noGrp="1"/>
          </p:cNvSpPr>
          <p:nvPr>
            <p:ph type="sldNum" idx="4294967295"/>
          </p:nvPr>
        </p:nvSpPr>
        <p:spPr>
          <a:xfrm>
            <a:off x="11091672" y="6355080"/>
            <a:ext cx="548640" cy="274320"/>
          </a:xfrm>
          <a:prstGeom prst="rect">
            <a:avLst/>
          </a:prstGeom>
        </p:spPr>
        <p:txBody>
          <a:bodyPr lIns="0" tIns="0" rIns="0" bIns="0"/>
          <a:lstStyle>
            <a:lvl1pPr>
              <a:buNone/>
              <a:defRPr sz="1000">
                <a:solidFill>
                  <a:srgbClr val="8A9A91"/>
                </a:solidFill>
              </a:defRPr>
            </a:lvl1pPr>
          </a:lstStyle>
          <a:p>
            <a:pPr algn="r">
              <a:buNone/>
            </a:pPr>
            <a:fld id="{F7021451-1387-4CA6-816F-3879F97B5CBC}" type="slidenum">
              <a:rPr b="0"/>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
    <p:bg>
      <p:bgPr>
        <a:solidFill>
          <a:srgbClr val="0B3D2E"/>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xmlns="" id="{CB985048-F3CF-494E-8B16-8DEA7FA33900}"/>
              </a:ext>
            </a:extLst>
          </p:cNvPr>
          <p:cNvSpPr>
            <a:spLocks noGrp="1"/>
          </p:cNvSpPr>
          <p:nvPr>
            <p:ph type="title" idx="100" hasCustomPrompt="1"/>
          </p:nvPr>
        </p:nvSpPr>
        <p:spPr>
          <a:xfrm>
            <a:off x="731520" y="548640"/>
            <a:ext cx="10698480" cy="822960"/>
          </a:xfrm>
          <a:prstGeom prst="rect">
            <a:avLst/>
          </a:prstGeom>
          <a:noFill/>
        </p:spPr>
        <p:txBody>
          <a:bodyPr wrap="square"/>
          <a:lstStyle>
            <a:lvl1pPr marL="0" indent="0" algn="l">
              <a:buNone/>
              <a:defRPr sz="3400" b="1">
                <a:solidFill>
                  <a:schemeClr val="bg1"/>
                </a:solidFill>
                <a:latin typeface="Cambria"/>
                <a:ea typeface="Cambria"/>
                <a:cs typeface="Cambria"/>
              </a:defRPr>
            </a:lvl1pPr>
          </a:lstStyle>
          <a:p>
            <a:pPr marL="0" indent="0" algn="l">
              <a:buNone/>
            </a:pPr>
            <a:endParaRPr sz="340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a:extLst>
              <a:ext uri="{FF2B5EF4-FFF2-40B4-BE49-F238E27FC236}">
                <a16:creationId xmlns:a16="http://schemas.microsoft.com/office/drawing/2014/main" xmlns="" id="{64C26AAE-6E38-4CB6-AAC1-3A462C35C5C5}"/>
              </a:ext>
            </a:extLst>
          </p:cNvPr>
          <p:cNvSpPr>
            <a:spLocks noGrp="1"/>
          </p:cNvSpPr>
          <p:nvPr>
            <p:ph type="sldNum" idx="4294967295"/>
          </p:nvPr>
        </p:nvSpPr>
        <p:spPr>
          <a:xfrm>
            <a:off x="11091672" y="6355080"/>
            <a:ext cx="548640" cy="274320"/>
          </a:xfrm>
          <a:prstGeom prst="rect">
            <a:avLst/>
          </a:prstGeom>
        </p:spPr>
        <p:txBody>
          <a:bodyPr lIns="0" tIns="0" rIns="0" bIns="0"/>
          <a:lstStyle>
            <a:lvl1pPr>
              <a:buNone/>
              <a:defRPr sz="1000">
                <a:solidFill>
                  <a:srgbClr val="8A9A91"/>
                </a:solidFill>
              </a:defRPr>
            </a:lvl1pPr>
          </a:lstStyle>
          <a:p>
            <a:pPr algn="r">
              <a:buNone/>
            </a:pPr>
            <a:fld id="{F7021451-1387-4CA6-816F-3879F97B5CBC}" type="slidenum">
              <a:rPr b="0"/>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xmlns="" id="{3BB22184-F871-435C-AF87-35E93D625B90}"/>
              </a:ext>
            </a:extLst>
          </p:cNvPr>
          <p:cNvSpPr>
            <a:spLocks noGrp="1"/>
          </p:cNvSpPr>
          <p:nvPr/>
        </p:nvSpPr>
        <p:spPr>
          <a:xfrm>
            <a:off x="731520" y="731520"/>
            <a:ext cx="10698480" cy="365760"/>
          </a:xfrm>
          <a:prstGeom prst="rect">
            <a:avLst/>
          </a:prstGeom>
          <a:noFill/>
        </p:spPr>
        <p:txBody>
          <a:bodyPr wrap="square" lIns="0" tIns="0" rIns="0" bIns="0" anchor="ctr"/>
          <a:lstStyle/>
          <a:p>
            <a:pPr marL="0" indent="0">
              <a:buNone/>
            </a:pPr>
            <a:r>
              <a:rPr sz="1200" b="1" spc="200">
                <a:solidFill>
                  <a:srgbClr val="B8902F"/>
                </a:solidFill>
              </a:rPr>
              <a:t>ECO346  |  DATA VISUALIZATION AND TECHNICAL EXPERIMENTS  |  ASSIGNMENT 1, SECTION A</a:t>
            </a:r>
            <a:endParaRPr sz="1200"/>
          </a:p>
        </p:txBody>
      </p:sp>
      <p:sp>
        <p:nvSpPr>
          <p:cNvPr id="3" name="Text 1">
            <a:extLst>
              <a:ext uri="{FF2B5EF4-FFF2-40B4-BE49-F238E27FC236}">
                <a16:creationId xmlns:a16="http://schemas.microsoft.com/office/drawing/2014/main" xmlns="" id="{A1B3CA43-4863-4E7F-85E9-56106A7A01E1}"/>
              </a:ext>
            </a:extLst>
          </p:cNvPr>
          <p:cNvSpPr>
            <a:spLocks noGrp="1"/>
          </p:cNvSpPr>
          <p:nvPr/>
        </p:nvSpPr>
        <p:spPr>
          <a:xfrm>
            <a:off x="731520" y="1828800"/>
            <a:ext cx="10698480" cy="1097280"/>
          </a:xfrm>
          <a:prstGeom prst="rect">
            <a:avLst/>
          </a:prstGeom>
          <a:noFill/>
        </p:spPr>
        <p:txBody>
          <a:bodyPr wrap="square" lIns="0" tIns="0" rIns="0" bIns="0" anchor="ctr"/>
          <a:lstStyle/>
          <a:p>
            <a:pPr marL="0" indent="0">
              <a:buNone/>
            </a:pPr>
            <a:r>
              <a:rPr sz="4800" b="1">
                <a:solidFill>
                  <a:schemeClr val="bg1"/>
                </a:solidFill>
                <a:latin typeface="Cambria"/>
                <a:ea typeface="Cambria"/>
                <a:cs typeface="Cambria"/>
              </a:rPr>
              <a:t>Who Earns What, and at What Age?</a:t>
            </a:r>
            <a:endParaRPr sz="4800"/>
          </a:p>
        </p:txBody>
      </p:sp>
      <p:sp>
        <p:nvSpPr>
          <p:cNvPr id="4" name="Text 2">
            <a:extLst>
              <a:ext uri="{FF2B5EF4-FFF2-40B4-BE49-F238E27FC236}">
                <a16:creationId xmlns:a16="http://schemas.microsoft.com/office/drawing/2014/main" xmlns="" id="{6F8D2DB9-48A6-491F-9409-0428B187CB7E}"/>
              </a:ext>
            </a:extLst>
          </p:cNvPr>
          <p:cNvSpPr>
            <a:spLocks noGrp="1"/>
          </p:cNvSpPr>
          <p:nvPr/>
        </p:nvSpPr>
        <p:spPr>
          <a:xfrm>
            <a:off x="731520" y="2971800"/>
            <a:ext cx="10698480" cy="548640"/>
          </a:xfrm>
          <a:prstGeom prst="rect">
            <a:avLst/>
          </a:prstGeom>
          <a:noFill/>
        </p:spPr>
        <p:txBody>
          <a:bodyPr wrap="square" lIns="0" tIns="0" rIns="0" bIns="0" anchor="ctr"/>
          <a:lstStyle/>
          <a:p>
            <a:pPr marL="0" indent="0">
              <a:buNone/>
            </a:pPr>
            <a:r>
              <a:rPr sz="2400">
                <a:solidFill>
                  <a:srgbClr val="D5DDD8"/>
                </a:solidFill>
                <a:latin typeface="Cambria"/>
                <a:ea typeface="Cambria"/>
                <a:cs typeface="Cambria"/>
              </a:rPr>
              <a:t>Distribution and Age Profile of Annual Earnings, PSLM 2019-20</a:t>
            </a:r>
            <a:endParaRPr sz="2400"/>
          </a:p>
        </p:txBody>
      </p:sp>
      <p:sp>
        <p:nvSpPr>
          <p:cNvPr id="5" name="Text 3">
            <a:extLst>
              <a:ext uri="{FF2B5EF4-FFF2-40B4-BE49-F238E27FC236}">
                <a16:creationId xmlns:a16="http://schemas.microsoft.com/office/drawing/2014/main" xmlns="" id="{AB9E1337-6160-4B79-AE10-142D07547574}"/>
              </a:ext>
            </a:extLst>
          </p:cNvPr>
          <p:cNvSpPr>
            <a:spLocks noGrp="1"/>
          </p:cNvSpPr>
          <p:nvPr/>
        </p:nvSpPr>
        <p:spPr>
          <a:xfrm>
            <a:off x="731520" y="4663440"/>
            <a:ext cx="7315200" cy="1463040"/>
          </a:xfrm>
          <a:prstGeom prst="rect">
            <a:avLst/>
          </a:prstGeom>
          <a:noFill/>
        </p:spPr>
        <p:txBody>
          <a:bodyPr wrap="square" lIns="0" tIns="0" rIns="0" bIns="0" anchor="ctr"/>
          <a:lstStyle/>
          <a:p>
            <a:pPr marL="0" indent="0">
              <a:spcAft>
                <a:spcPts val="400"/>
              </a:spcAft>
              <a:buNone/>
            </a:pPr>
            <a:r>
              <a:rPr sz="1600" b="1">
                <a:solidFill>
                  <a:schemeClr val="bg1"/>
                </a:solidFill>
              </a:rPr>
              <a:t>Ahmad Muaaz</a:t>
            </a:r>
            <a:endParaRPr sz="1600"/>
          </a:p>
          <a:p>
            <a:pPr marL="0" indent="0">
              <a:spcAft>
                <a:spcPts val="400"/>
              </a:spcAft>
              <a:buNone/>
            </a:pPr>
            <a:r>
              <a:rPr sz="1600" b="1">
                <a:solidFill>
                  <a:schemeClr val="bg1"/>
                </a:solidFill>
              </a:rPr>
              <a:t>Registration No. FA24-BED-009</a:t>
            </a:r>
          </a:p>
          <a:p>
            <a:pPr marL="0" indent="0">
              <a:spcAft>
                <a:spcPts val="400"/>
              </a:spcAft>
              <a:buNone/>
            </a:pPr>
            <a:r>
              <a:rPr sz="1600" b="1">
                <a:solidFill>
                  <a:schemeClr val="bg1"/>
                </a:solidFill>
              </a:rPr>
              <a:t>Submitted to Dr Rafi Amir-ud-din</a:t>
            </a:r>
          </a:p>
          <a:p>
            <a:pPr marL="0" indent="0">
              <a:spcAft>
                <a:spcPts val="400"/>
              </a:spcAft>
              <a:buNone/>
            </a:pPr>
            <a:r>
              <a:rPr sz="1600" b="1">
                <a:solidFill>
                  <a:schemeClr val="bg1"/>
                </a:solidFill>
              </a:rPr>
              <a:t>Analytical sample: earners aged 15 to 64, n = 3,768</a:t>
            </a:r>
          </a:p>
        </p:txBody>
      </p:sp>
    </p:spTree>
    <p:extLst>
      <p:ext uri="{BB962C8B-B14F-4D97-AF65-F5344CB8AC3E}">
        <p14:creationId xmlns:p14="http://schemas.microsoft.com/office/powerpoint/2010/main" val="9081693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a:extLst>
              <a:ext uri="{FF2B5EF4-FFF2-40B4-BE49-F238E27FC236}">
                <a16:creationId xmlns:a16="http://schemas.microsoft.com/office/drawing/2014/main" xmlns="" id="{5CFB2212-1F28-462E-A5AE-6B8D37EA582C}"/>
              </a:ext>
            </a:extLst>
          </p:cNvPr>
          <p:cNvSpPr>
            <a:spLocks noGrp="1"/>
          </p:cNvSpPr>
          <p:nvPr>
            <p:ph type="title" idx="101"/>
          </p:nvPr>
        </p:nvSpPr>
        <p:spPr>
          <a:xfrm>
            <a:off x="548640" y="365760"/>
            <a:ext cx="11091672" cy="914400"/>
          </a:xfrm>
          <a:prstGeom prst="rect">
            <a:avLst/>
          </a:prstGeom>
          <a:noFill/>
        </p:spPr>
        <p:txBody>
          <a:bodyPr wrap="square" lIns="0" tIns="0" rIns="0" bIns="0" anchor="t"/>
          <a:lstStyle/>
          <a:p>
            <a:pPr marL="0" indent="0" algn="l">
              <a:buNone/>
            </a:pPr>
            <a:r>
              <a:rPr sz="3000" b="1">
                <a:solidFill>
                  <a:schemeClr val="tx2"/>
                </a:solidFill>
                <a:latin typeface="Cambria"/>
                <a:ea typeface="Cambria"/>
                <a:cs typeface="Cambria"/>
              </a:rPr>
              <a:t>Executive summary: earnings are dispersed and peak late in the working life</a:t>
            </a:r>
            <a:endParaRPr sz="3000"/>
          </a:p>
        </p:txBody>
      </p:sp>
      <p:sp>
        <p:nvSpPr>
          <p:cNvPr id="3" name="Stat card 1">
            <a:extLst>
              <a:ext uri="{FF2B5EF4-FFF2-40B4-BE49-F238E27FC236}">
                <a16:creationId xmlns:a16="http://schemas.microsoft.com/office/drawing/2014/main" xmlns="" id="{4A8F72B5-63BA-4893-AF50-8374A4A24CF3}"/>
              </a:ext>
            </a:extLst>
          </p:cNvPr>
          <p:cNvSpPr>
            <a:spLocks noGrp="1"/>
          </p:cNvSpPr>
          <p:nvPr/>
        </p:nvSpPr>
        <p:spPr>
          <a:xfrm>
            <a:off x="548640" y="1600200"/>
            <a:ext cx="2651760" cy="1828800"/>
          </a:xfrm>
          <a:prstGeom prst="rect">
            <a:avLst/>
          </a:prstGeom>
          <a:solidFill>
            <a:schemeClr val="bg2"/>
          </a:solidFill>
          <a:ln w="9525">
            <a:solidFill>
              <a:srgbClr val="D5DDD8"/>
            </a:solidFill>
            <a:prstDash val="solid"/>
          </a:ln>
        </p:spPr>
      </p:sp>
      <p:sp>
        <p:nvSpPr>
          <p:cNvPr id="4" name="Text 2">
            <a:extLst>
              <a:ext uri="{FF2B5EF4-FFF2-40B4-BE49-F238E27FC236}">
                <a16:creationId xmlns:a16="http://schemas.microsoft.com/office/drawing/2014/main" xmlns="" id="{61B5383B-26B6-4AD7-9E72-55608D08B0C3}"/>
              </a:ext>
            </a:extLst>
          </p:cNvPr>
          <p:cNvSpPr>
            <a:spLocks noGrp="1"/>
          </p:cNvSpPr>
          <p:nvPr/>
        </p:nvSpPr>
        <p:spPr>
          <a:xfrm>
            <a:off x="731520" y="1737360"/>
            <a:ext cx="2286000" cy="822960"/>
          </a:xfrm>
          <a:prstGeom prst="rect">
            <a:avLst/>
          </a:prstGeom>
          <a:noFill/>
        </p:spPr>
        <p:txBody>
          <a:bodyPr wrap="square" lIns="0" tIns="0" rIns="0" bIns="0" anchor="ctr"/>
          <a:lstStyle/>
          <a:p>
            <a:pPr marL="0" indent="0">
              <a:buNone/>
            </a:pPr>
            <a:r>
              <a:rPr sz="3200" b="1">
                <a:solidFill>
                  <a:schemeClr val="tx2"/>
                </a:solidFill>
                <a:latin typeface="Cambria"/>
                <a:ea typeface="Cambria"/>
                <a:cs typeface="Cambria"/>
              </a:rPr>
              <a:t>3,768</a:t>
            </a:r>
            <a:endParaRPr sz="3200"/>
          </a:p>
        </p:txBody>
      </p:sp>
      <p:sp>
        <p:nvSpPr>
          <p:cNvPr id="5" name="Text 3">
            <a:extLst>
              <a:ext uri="{FF2B5EF4-FFF2-40B4-BE49-F238E27FC236}">
                <a16:creationId xmlns:a16="http://schemas.microsoft.com/office/drawing/2014/main" xmlns="" id="{F5249FBB-EFB9-4420-A564-FF88F8DAC58E}"/>
              </a:ext>
            </a:extLst>
          </p:cNvPr>
          <p:cNvSpPr>
            <a:spLocks noGrp="1"/>
          </p:cNvSpPr>
          <p:nvPr/>
        </p:nvSpPr>
        <p:spPr>
          <a:xfrm>
            <a:off x="731520" y="2560320"/>
            <a:ext cx="2286000" cy="731520"/>
          </a:xfrm>
          <a:prstGeom prst="rect">
            <a:avLst/>
          </a:prstGeom>
          <a:noFill/>
        </p:spPr>
        <p:txBody>
          <a:bodyPr wrap="square" lIns="0" tIns="0" rIns="0" bIns="0" anchor="t"/>
          <a:lstStyle/>
          <a:p>
            <a:pPr marL="0" indent="0">
              <a:buNone/>
            </a:pPr>
            <a:r>
              <a:rPr sz="1400">
                <a:solidFill>
                  <a:schemeClr val="tx1"/>
                </a:solidFill>
              </a:rPr>
              <a:t>Earners in the analytical sample</a:t>
            </a:r>
            <a:endParaRPr sz="1400"/>
          </a:p>
        </p:txBody>
      </p:sp>
      <p:sp>
        <p:nvSpPr>
          <p:cNvPr id="6" name="Stat card 2">
            <a:extLst>
              <a:ext uri="{FF2B5EF4-FFF2-40B4-BE49-F238E27FC236}">
                <a16:creationId xmlns:a16="http://schemas.microsoft.com/office/drawing/2014/main" xmlns="" id="{89C029E5-0F6E-4B78-B173-D8DFF8E93A7F}"/>
              </a:ext>
            </a:extLst>
          </p:cNvPr>
          <p:cNvSpPr>
            <a:spLocks noGrp="1"/>
          </p:cNvSpPr>
          <p:nvPr/>
        </p:nvSpPr>
        <p:spPr>
          <a:xfrm>
            <a:off x="3364992" y="1600200"/>
            <a:ext cx="2651760" cy="1828800"/>
          </a:xfrm>
          <a:prstGeom prst="rect">
            <a:avLst/>
          </a:prstGeom>
          <a:solidFill>
            <a:schemeClr val="bg2"/>
          </a:solidFill>
          <a:ln w="9525">
            <a:solidFill>
              <a:srgbClr val="D5DDD8"/>
            </a:solidFill>
            <a:prstDash val="solid"/>
          </a:ln>
        </p:spPr>
      </p:sp>
      <p:sp>
        <p:nvSpPr>
          <p:cNvPr id="7" name="Text 5">
            <a:extLst>
              <a:ext uri="{FF2B5EF4-FFF2-40B4-BE49-F238E27FC236}">
                <a16:creationId xmlns:a16="http://schemas.microsoft.com/office/drawing/2014/main" xmlns="" id="{3C9C2379-8C45-4A0F-B79B-9E8A412F207E}"/>
              </a:ext>
            </a:extLst>
          </p:cNvPr>
          <p:cNvSpPr>
            <a:spLocks noGrp="1"/>
          </p:cNvSpPr>
          <p:nvPr/>
        </p:nvSpPr>
        <p:spPr>
          <a:xfrm>
            <a:off x="3547872" y="1737360"/>
            <a:ext cx="2286000" cy="822960"/>
          </a:xfrm>
          <a:prstGeom prst="rect">
            <a:avLst/>
          </a:prstGeom>
          <a:noFill/>
        </p:spPr>
        <p:txBody>
          <a:bodyPr wrap="square" lIns="0" tIns="0" rIns="0" bIns="0" anchor="ctr"/>
          <a:lstStyle/>
          <a:p>
            <a:pPr marL="0" indent="0">
              <a:buNone/>
            </a:pPr>
            <a:r>
              <a:rPr sz="3200" b="1">
                <a:solidFill>
                  <a:schemeClr val="tx2"/>
                </a:solidFill>
                <a:latin typeface="Cambria"/>
                <a:ea typeface="Cambria"/>
                <a:cs typeface="Cambria"/>
              </a:rPr>
              <a:t>Rs 240,000</a:t>
            </a:r>
            <a:endParaRPr sz="3200"/>
          </a:p>
        </p:txBody>
      </p:sp>
      <p:sp>
        <p:nvSpPr>
          <p:cNvPr id="8" name="Text 6">
            <a:extLst>
              <a:ext uri="{FF2B5EF4-FFF2-40B4-BE49-F238E27FC236}">
                <a16:creationId xmlns:a16="http://schemas.microsoft.com/office/drawing/2014/main" xmlns="" id="{950D7FB9-6FB8-4F68-8397-05D133F56F14}"/>
              </a:ext>
            </a:extLst>
          </p:cNvPr>
          <p:cNvSpPr>
            <a:spLocks noGrp="1"/>
          </p:cNvSpPr>
          <p:nvPr/>
        </p:nvSpPr>
        <p:spPr>
          <a:xfrm>
            <a:off x="3547872" y="2560320"/>
            <a:ext cx="2286000" cy="731520"/>
          </a:xfrm>
          <a:prstGeom prst="rect">
            <a:avLst/>
          </a:prstGeom>
          <a:noFill/>
        </p:spPr>
        <p:txBody>
          <a:bodyPr wrap="square" lIns="0" tIns="0" rIns="0" bIns="0" anchor="t"/>
          <a:lstStyle/>
          <a:p>
            <a:pPr marL="0" indent="0">
              <a:buNone/>
            </a:pPr>
            <a:r>
              <a:rPr sz="1400">
                <a:solidFill>
                  <a:schemeClr val="tx1"/>
                </a:solidFill>
              </a:rPr>
              <a:t>Weighted median annual earnings</a:t>
            </a:r>
            <a:endParaRPr sz="1400"/>
          </a:p>
        </p:txBody>
      </p:sp>
      <p:sp>
        <p:nvSpPr>
          <p:cNvPr id="9" name="Stat card 3">
            <a:extLst>
              <a:ext uri="{FF2B5EF4-FFF2-40B4-BE49-F238E27FC236}">
                <a16:creationId xmlns:a16="http://schemas.microsoft.com/office/drawing/2014/main" xmlns="" id="{66679BDC-D41C-46B3-AC54-00E092654599}"/>
              </a:ext>
            </a:extLst>
          </p:cNvPr>
          <p:cNvSpPr>
            <a:spLocks noGrp="1"/>
          </p:cNvSpPr>
          <p:nvPr/>
        </p:nvSpPr>
        <p:spPr>
          <a:xfrm>
            <a:off x="6181344" y="1600200"/>
            <a:ext cx="2651760" cy="1828800"/>
          </a:xfrm>
          <a:prstGeom prst="rect">
            <a:avLst/>
          </a:prstGeom>
          <a:solidFill>
            <a:schemeClr val="bg2"/>
          </a:solidFill>
          <a:ln w="9525">
            <a:solidFill>
              <a:srgbClr val="D5DDD8"/>
            </a:solidFill>
            <a:prstDash val="solid"/>
          </a:ln>
        </p:spPr>
      </p:sp>
      <p:sp>
        <p:nvSpPr>
          <p:cNvPr id="10" name="Text 8">
            <a:extLst>
              <a:ext uri="{FF2B5EF4-FFF2-40B4-BE49-F238E27FC236}">
                <a16:creationId xmlns:a16="http://schemas.microsoft.com/office/drawing/2014/main" xmlns="" id="{3EB3FD81-0A4B-40CE-8D5B-70B3383A2FCE}"/>
              </a:ext>
            </a:extLst>
          </p:cNvPr>
          <p:cNvSpPr>
            <a:spLocks noGrp="1"/>
          </p:cNvSpPr>
          <p:nvPr/>
        </p:nvSpPr>
        <p:spPr>
          <a:xfrm>
            <a:off x="6364224" y="1737360"/>
            <a:ext cx="2286000" cy="822960"/>
          </a:xfrm>
          <a:prstGeom prst="rect">
            <a:avLst/>
          </a:prstGeom>
          <a:noFill/>
        </p:spPr>
        <p:txBody>
          <a:bodyPr wrap="square" lIns="0" tIns="0" rIns="0" bIns="0" anchor="ctr"/>
          <a:lstStyle/>
          <a:p>
            <a:pPr marL="0" indent="0">
              <a:buNone/>
            </a:pPr>
            <a:r>
              <a:rPr sz="3200" b="1">
                <a:solidFill>
                  <a:schemeClr val="tx2"/>
                </a:solidFill>
                <a:latin typeface="Cambria"/>
                <a:ea typeface="Cambria"/>
                <a:cs typeface="Cambria"/>
              </a:rPr>
              <a:t>6.9 : 1</a:t>
            </a:r>
            <a:endParaRPr sz="3200"/>
          </a:p>
        </p:txBody>
      </p:sp>
      <p:sp>
        <p:nvSpPr>
          <p:cNvPr id="11" name="Text 9">
            <a:extLst>
              <a:ext uri="{FF2B5EF4-FFF2-40B4-BE49-F238E27FC236}">
                <a16:creationId xmlns:a16="http://schemas.microsoft.com/office/drawing/2014/main" xmlns="" id="{EFDC13BD-3C41-4D0E-AAF1-B7FAD8677151}"/>
              </a:ext>
            </a:extLst>
          </p:cNvPr>
          <p:cNvSpPr>
            <a:spLocks noGrp="1"/>
          </p:cNvSpPr>
          <p:nvPr/>
        </p:nvSpPr>
        <p:spPr>
          <a:xfrm>
            <a:off x="6364224" y="2560320"/>
            <a:ext cx="2286000" cy="731520"/>
          </a:xfrm>
          <a:prstGeom prst="rect">
            <a:avLst/>
          </a:prstGeom>
          <a:noFill/>
        </p:spPr>
        <p:txBody>
          <a:bodyPr wrap="square" lIns="0" tIns="0" rIns="0" bIns="0" anchor="t"/>
          <a:lstStyle/>
          <a:p>
            <a:pPr marL="0" indent="0">
              <a:buNone/>
            </a:pPr>
            <a:r>
              <a:rPr sz="1400">
                <a:solidFill>
                  <a:schemeClr val="tx1"/>
                </a:solidFill>
              </a:rPr>
              <a:t>Ratio of 90th to 10th percentile</a:t>
            </a:r>
            <a:endParaRPr sz="1400"/>
          </a:p>
        </p:txBody>
      </p:sp>
      <p:sp>
        <p:nvSpPr>
          <p:cNvPr id="12" name="Stat card 4">
            <a:extLst>
              <a:ext uri="{FF2B5EF4-FFF2-40B4-BE49-F238E27FC236}">
                <a16:creationId xmlns:a16="http://schemas.microsoft.com/office/drawing/2014/main" xmlns="" id="{141DCD5C-79CA-4FDE-89B8-31B23F355791}"/>
              </a:ext>
            </a:extLst>
          </p:cNvPr>
          <p:cNvSpPr>
            <a:spLocks noGrp="1"/>
          </p:cNvSpPr>
          <p:nvPr/>
        </p:nvSpPr>
        <p:spPr>
          <a:xfrm>
            <a:off x="8997696" y="1600200"/>
            <a:ext cx="2651760" cy="1828800"/>
          </a:xfrm>
          <a:prstGeom prst="rect">
            <a:avLst/>
          </a:prstGeom>
          <a:solidFill>
            <a:schemeClr val="bg2"/>
          </a:solidFill>
          <a:ln w="9525">
            <a:solidFill>
              <a:srgbClr val="D5DDD8"/>
            </a:solidFill>
            <a:prstDash val="solid"/>
          </a:ln>
        </p:spPr>
      </p:sp>
      <p:sp>
        <p:nvSpPr>
          <p:cNvPr id="13" name="Text 11">
            <a:extLst>
              <a:ext uri="{FF2B5EF4-FFF2-40B4-BE49-F238E27FC236}">
                <a16:creationId xmlns:a16="http://schemas.microsoft.com/office/drawing/2014/main" xmlns="" id="{5CACAA20-764B-40F9-B37A-6C116AA8A9E8}"/>
              </a:ext>
            </a:extLst>
          </p:cNvPr>
          <p:cNvSpPr>
            <a:spLocks noGrp="1"/>
          </p:cNvSpPr>
          <p:nvPr/>
        </p:nvSpPr>
        <p:spPr>
          <a:xfrm>
            <a:off x="9180576" y="1737360"/>
            <a:ext cx="2286000" cy="822960"/>
          </a:xfrm>
          <a:prstGeom prst="rect">
            <a:avLst/>
          </a:prstGeom>
          <a:noFill/>
        </p:spPr>
        <p:txBody>
          <a:bodyPr wrap="square" lIns="0" tIns="0" rIns="0" bIns="0" anchor="ctr"/>
          <a:lstStyle/>
          <a:p>
            <a:pPr marL="0" indent="0">
              <a:buNone/>
            </a:pPr>
            <a:r>
              <a:rPr sz="3200" b="1">
                <a:solidFill>
                  <a:schemeClr val="tx2"/>
                </a:solidFill>
                <a:latin typeface="Cambria"/>
                <a:ea typeface="Cambria"/>
                <a:cs typeface="Cambria"/>
              </a:rPr>
              <a:t>55 to 59</a:t>
            </a:r>
            <a:endParaRPr sz="3200"/>
          </a:p>
        </p:txBody>
      </p:sp>
      <p:sp>
        <p:nvSpPr>
          <p:cNvPr id="14" name="Text 12">
            <a:extLst>
              <a:ext uri="{FF2B5EF4-FFF2-40B4-BE49-F238E27FC236}">
                <a16:creationId xmlns:a16="http://schemas.microsoft.com/office/drawing/2014/main" xmlns="" id="{019D97C5-7F01-40BA-B0AA-435C9C96CE15}"/>
              </a:ext>
            </a:extLst>
          </p:cNvPr>
          <p:cNvSpPr>
            <a:spLocks noGrp="1"/>
          </p:cNvSpPr>
          <p:nvPr/>
        </p:nvSpPr>
        <p:spPr>
          <a:xfrm>
            <a:off x="9180576" y="2560320"/>
            <a:ext cx="2286000" cy="731520"/>
          </a:xfrm>
          <a:prstGeom prst="rect">
            <a:avLst/>
          </a:prstGeom>
          <a:noFill/>
        </p:spPr>
        <p:txBody>
          <a:bodyPr wrap="square" lIns="0" tIns="0" rIns="0" bIns="0" anchor="t"/>
          <a:lstStyle/>
          <a:p>
            <a:pPr marL="0" indent="0">
              <a:buNone/>
            </a:pPr>
            <a:r>
              <a:rPr sz="1400">
                <a:solidFill>
                  <a:schemeClr val="tx1"/>
                </a:solidFill>
              </a:rPr>
              <a:t>Age band with the highest mean (Rs 523,751)</a:t>
            </a:r>
            <a:endParaRPr sz="1400"/>
          </a:p>
        </p:txBody>
      </p:sp>
      <p:sp>
        <p:nvSpPr>
          <p:cNvPr id="15" name="Text 13">
            <a:extLst>
              <a:ext uri="{FF2B5EF4-FFF2-40B4-BE49-F238E27FC236}">
                <a16:creationId xmlns:a16="http://schemas.microsoft.com/office/drawing/2014/main" xmlns="" id="{DB055355-9C13-4992-A6D3-35201D9E9307}"/>
              </a:ext>
            </a:extLst>
          </p:cNvPr>
          <p:cNvSpPr>
            <a:spLocks noGrp="1"/>
          </p:cNvSpPr>
          <p:nvPr/>
        </p:nvSpPr>
        <p:spPr>
          <a:xfrm>
            <a:off x="548640" y="3840480"/>
            <a:ext cx="11091672" cy="2286000"/>
          </a:xfrm>
          <a:prstGeom prst="rect">
            <a:avLst/>
          </a:prstGeom>
          <a:noFill/>
        </p:spPr>
        <p:txBody>
          <a:bodyPr wrap="square" lIns="0" tIns="0" rIns="0" bIns="0" anchor="t"/>
          <a:lstStyle/>
          <a:p>
            <a:pPr marL="0" indent="0">
              <a:spcAft>
                <a:spcPts val="1200"/>
              </a:spcAft>
              <a:buNone/>
            </a:pPr>
            <a:r>
              <a:rPr sz="2000" b="1">
                <a:solidFill>
                  <a:srgbClr val="0B3D2E"/>
                </a:solidFill>
              </a:rPr>
              <a:t>Dispersion. </a:t>
            </a:r>
            <a:r>
              <a:rPr sz="2000">
                <a:solidFill>
                  <a:schemeClr val="tx1"/>
                </a:solidFill>
              </a:rPr>
              <a:t>The top tenth of earners receive at least Rs 660,000, nearly seven times the Rs 96,000 earned at the 10th percentile.</a:t>
            </a:r>
            <a:endParaRPr sz="2000"/>
          </a:p>
          <a:p>
            <a:pPr marL="0" indent="0">
              <a:spcAft>
                <a:spcPts val="1200"/>
              </a:spcAft>
              <a:buNone/>
            </a:pPr>
            <a:r>
              <a:rPr sz="2000" b="1">
                <a:solidFill>
                  <a:srgbClr val="0B3D2E"/>
                </a:solidFill>
              </a:rPr>
              <a:t>Age profile. </a:t>
            </a:r>
            <a:r>
              <a:rPr sz="2000">
                <a:solidFill>
                  <a:schemeClr val="tx1"/>
                </a:solidFill>
              </a:rPr>
              <a:t>Weighted mean earnings rise from Rs 145,444 (ages 15 to 19) to a plateau of about Rs 520,000 between ages 50 and 59, then ease to Rs 453,067.</a:t>
            </a:r>
            <a:endParaRPr sz="2000"/>
          </a:p>
          <a:p>
            <a:pPr marL="0" indent="0">
              <a:spcAft>
                <a:spcPts val="1200"/>
              </a:spcAft>
              <a:buNone/>
            </a:pPr>
            <a:r>
              <a:rPr sz="2000" b="1">
                <a:solidFill>
                  <a:srgbClr val="0B3D2E"/>
                </a:solidFill>
              </a:rPr>
              <a:t>Robustness. </a:t>
            </a:r>
            <a:r>
              <a:rPr sz="2000">
                <a:solidFill>
                  <a:schemeClr val="tx1"/>
                </a:solidFill>
              </a:rPr>
              <a:t>The band table reproduces identically in R and Python, to the rupee.</a:t>
            </a:r>
            <a:endParaRPr sz="2000"/>
          </a:p>
        </p:txBody>
      </p:sp>
      <p:sp>
        <p:nvSpPr>
          <p:cNvPr id="25" name="Slide Number Placeholder 0">
            <a:extLst>
              <a:ext uri="{FF2B5EF4-FFF2-40B4-BE49-F238E27FC236}">
                <a16:creationId xmlns:a16="http://schemas.microsoft.com/office/drawing/2014/main" xmlns="" id="{144D8F97-4ADF-4AE6-9353-B7FF7B0676B8}"/>
              </a:ext>
            </a:extLst>
          </p:cNvPr>
          <p:cNvSpPr>
            <a:spLocks noGrp="1"/>
          </p:cNvSpPr>
          <p:nvPr>
            <p:ph type="sldNum" idx="4294967295"/>
          </p:nvPr>
        </p:nvSpPr>
        <p:spPr>
          <a:xfrm>
            <a:off x="11091672" y="6355080"/>
            <a:ext cx="548640" cy="274320"/>
          </a:xfrm>
          <a:prstGeom prst="rect">
            <a:avLst/>
          </a:prstGeom>
        </p:spPr>
        <p:txBody>
          <a:bodyPr lIns="0" tIns="0" rIns="0" bIns="0"/>
          <a:lstStyle>
            <a:lvl1pPr>
              <a:buNone/>
              <a:defRPr sz="1000">
                <a:solidFill>
                  <a:srgbClr val="8A9A91"/>
                </a:solidFill>
              </a:defRPr>
            </a:lvl1pPr>
          </a:lstStyle>
          <a:p>
            <a:pPr algn="r">
              <a:buNone/>
            </a:pPr>
            <a:fld id="{F7021451-1387-4CA6-816F-3879F97B5CBC}" type="slidenum">
              <a:rPr b="0"/>
              <a:t>2</a:t>
            </a:fld>
            <a:endParaRPr/>
          </a:p>
        </p:txBody>
      </p:sp>
    </p:spTree>
    <p:extLst>
      <p:ext uri="{BB962C8B-B14F-4D97-AF65-F5344CB8AC3E}">
        <p14:creationId xmlns:p14="http://schemas.microsoft.com/office/powerpoint/2010/main" val="2236564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a:extLst>
              <a:ext uri="{FF2B5EF4-FFF2-40B4-BE49-F238E27FC236}">
                <a16:creationId xmlns:a16="http://schemas.microsoft.com/office/drawing/2014/main" xmlns="" id="{25CBCB11-BF3D-4187-9553-A8EC222379CA}"/>
              </a:ext>
            </a:extLst>
          </p:cNvPr>
          <p:cNvSpPr>
            <a:spLocks noGrp="1"/>
          </p:cNvSpPr>
          <p:nvPr>
            <p:ph type="title" idx="101"/>
          </p:nvPr>
        </p:nvSpPr>
        <p:spPr>
          <a:xfrm>
            <a:off x="548640" y="365760"/>
            <a:ext cx="11091672" cy="914400"/>
          </a:xfrm>
          <a:prstGeom prst="rect">
            <a:avLst/>
          </a:prstGeom>
          <a:noFill/>
        </p:spPr>
        <p:txBody>
          <a:bodyPr wrap="square" lIns="0" tIns="0" rIns="0" bIns="0" anchor="t"/>
          <a:lstStyle/>
          <a:p>
            <a:pPr marL="0" indent="0" algn="l">
              <a:buNone/>
            </a:pPr>
            <a:r>
              <a:rPr sz="3000" b="1">
                <a:solidFill>
                  <a:schemeClr val="tx2"/>
                </a:solidFill>
                <a:latin typeface="Cambria"/>
                <a:ea typeface="Cambria"/>
                <a:cs typeface="Cambria"/>
              </a:rPr>
              <a:t>Data and sample: a weighted subset of the PSLM 2019-20 survey</a:t>
            </a:r>
            <a:endParaRPr sz="3000"/>
          </a:p>
        </p:txBody>
      </p:sp>
      <p:sp>
        <p:nvSpPr>
          <p:cNvPr id="3" name="Marker 1">
            <a:extLst>
              <a:ext uri="{FF2B5EF4-FFF2-40B4-BE49-F238E27FC236}">
                <a16:creationId xmlns:a16="http://schemas.microsoft.com/office/drawing/2014/main" xmlns="" id="{5896D721-85AB-46EF-90B4-FEC05C9BAC39}"/>
              </a:ext>
            </a:extLst>
          </p:cNvPr>
          <p:cNvSpPr>
            <a:spLocks noGrp="1"/>
          </p:cNvSpPr>
          <p:nvPr/>
        </p:nvSpPr>
        <p:spPr>
          <a:xfrm>
            <a:off x="548640" y="1691640"/>
            <a:ext cx="457200" cy="457200"/>
          </a:xfrm>
          <a:prstGeom prst="ellipse">
            <a:avLst/>
          </a:prstGeom>
          <a:solidFill>
            <a:schemeClr val="accent2"/>
          </a:solidFill>
          <a:ln w="12700">
            <a:solidFill>
              <a:schemeClr val="accent2"/>
            </a:solidFill>
            <a:prstDash val="solid"/>
          </a:ln>
        </p:spPr>
      </p:sp>
      <p:sp>
        <p:nvSpPr>
          <p:cNvPr id="4" name="Text 2">
            <a:extLst>
              <a:ext uri="{FF2B5EF4-FFF2-40B4-BE49-F238E27FC236}">
                <a16:creationId xmlns:a16="http://schemas.microsoft.com/office/drawing/2014/main" xmlns="" id="{E877C569-926A-4D39-B0A0-F7F93D6E7B86}"/>
              </a:ext>
            </a:extLst>
          </p:cNvPr>
          <p:cNvSpPr>
            <a:spLocks noGrp="1"/>
          </p:cNvSpPr>
          <p:nvPr/>
        </p:nvSpPr>
        <p:spPr>
          <a:xfrm>
            <a:off x="548640" y="1691640"/>
            <a:ext cx="457200" cy="457200"/>
          </a:xfrm>
          <a:prstGeom prst="rect">
            <a:avLst/>
          </a:prstGeom>
          <a:noFill/>
        </p:spPr>
        <p:txBody>
          <a:bodyPr wrap="square" lIns="0" tIns="0" rIns="0" bIns="0" anchor="ctr"/>
          <a:lstStyle/>
          <a:p>
            <a:pPr marL="0" indent="0" algn="ctr">
              <a:buNone/>
            </a:pPr>
            <a:r>
              <a:rPr sz="1600" b="1">
                <a:solidFill>
                  <a:schemeClr val="bg1"/>
                </a:solidFill>
                <a:latin typeface="Cambria"/>
                <a:ea typeface="Cambria"/>
                <a:cs typeface="Cambria"/>
              </a:rPr>
              <a:t>1</a:t>
            </a:r>
            <a:endParaRPr sz="1600"/>
          </a:p>
        </p:txBody>
      </p:sp>
      <p:sp>
        <p:nvSpPr>
          <p:cNvPr id="5" name="Text 3">
            <a:extLst>
              <a:ext uri="{FF2B5EF4-FFF2-40B4-BE49-F238E27FC236}">
                <a16:creationId xmlns:a16="http://schemas.microsoft.com/office/drawing/2014/main" xmlns="" id="{1BE0B7D8-1128-4821-8603-C7AB2A60CF57}"/>
              </a:ext>
            </a:extLst>
          </p:cNvPr>
          <p:cNvSpPr>
            <a:spLocks noGrp="1"/>
          </p:cNvSpPr>
          <p:nvPr/>
        </p:nvSpPr>
        <p:spPr>
          <a:xfrm>
            <a:off x="1234440" y="1600200"/>
            <a:ext cx="2011680" cy="640080"/>
          </a:xfrm>
          <a:prstGeom prst="rect">
            <a:avLst/>
          </a:prstGeom>
          <a:noFill/>
        </p:spPr>
        <p:txBody>
          <a:bodyPr wrap="square" lIns="0" tIns="0" rIns="0" bIns="0" anchor="t"/>
          <a:lstStyle/>
          <a:p>
            <a:pPr marL="0" indent="0">
              <a:buNone/>
            </a:pPr>
            <a:r>
              <a:rPr sz="2000" b="1">
                <a:solidFill>
                  <a:schemeClr val="tx2"/>
                </a:solidFill>
                <a:latin typeface="Cambria"/>
                <a:ea typeface="Cambria"/>
                <a:cs typeface="Cambria"/>
              </a:rPr>
              <a:t>Source</a:t>
            </a:r>
            <a:endParaRPr sz="2000"/>
          </a:p>
        </p:txBody>
      </p:sp>
      <p:sp>
        <p:nvSpPr>
          <p:cNvPr id="6" name="Text 4">
            <a:extLst>
              <a:ext uri="{FF2B5EF4-FFF2-40B4-BE49-F238E27FC236}">
                <a16:creationId xmlns:a16="http://schemas.microsoft.com/office/drawing/2014/main" xmlns="" id="{1A362AF5-A07E-459F-B8B0-C69283C6E65F}"/>
              </a:ext>
            </a:extLst>
          </p:cNvPr>
          <p:cNvSpPr>
            <a:spLocks noGrp="1"/>
          </p:cNvSpPr>
          <p:nvPr/>
        </p:nvSpPr>
        <p:spPr>
          <a:xfrm>
            <a:off x="3291840" y="1600200"/>
            <a:ext cx="8321040" cy="914400"/>
          </a:xfrm>
          <a:prstGeom prst="rect">
            <a:avLst/>
          </a:prstGeom>
          <a:noFill/>
        </p:spPr>
        <p:txBody>
          <a:bodyPr wrap="square" lIns="0" tIns="0" rIns="0" bIns="0" anchor="t"/>
          <a:lstStyle/>
          <a:p>
            <a:pPr marL="0" indent="0">
              <a:buNone/>
            </a:pPr>
            <a:r>
              <a:rPr sz="1600">
                <a:solidFill>
                  <a:schemeClr val="tx1"/>
                </a:solidFill>
              </a:rPr>
              <a:t>Pakistan Social and Living Standards Measurement (PSLM) survey, 2019-20. Person file merged to the household file on household identifier (hhid).</a:t>
            </a:r>
            <a:endParaRPr sz="1600"/>
          </a:p>
        </p:txBody>
      </p:sp>
      <p:sp>
        <p:nvSpPr>
          <p:cNvPr id="7" name="Marker 2">
            <a:extLst>
              <a:ext uri="{FF2B5EF4-FFF2-40B4-BE49-F238E27FC236}">
                <a16:creationId xmlns:a16="http://schemas.microsoft.com/office/drawing/2014/main" xmlns="" id="{76EB1E18-06DA-4813-A5C9-8133E7226A00}"/>
              </a:ext>
            </a:extLst>
          </p:cNvPr>
          <p:cNvSpPr>
            <a:spLocks noGrp="1"/>
          </p:cNvSpPr>
          <p:nvPr/>
        </p:nvSpPr>
        <p:spPr>
          <a:xfrm>
            <a:off x="548640" y="2788920"/>
            <a:ext cx="457200" cy="457200"/>
          </a:xfrm>
          <a:prstGeom prst="ellipse">
            <a:avLst/>
          </a:prstGeom>
          <a:solidFill>
            <a:schemeClr val="accent2"/>
          </a:solidFill>
          <a:ln w="12700">
            <a:solidFill>
              <a:schemeClr val="accent2"/>
            </a:solidFill>
            <a:prstDash val="solid"/>
          </a:ln>
        </p:spPr>
      </p:sp>
      <p:sp>
        <p:nvSpPr>
          <p:cNvPr id="8" name="Text 6">
            <a:extLst>
              <a:ext uri="{FF2B5EF4-FFF2-40B4-BE49-F238E27FC236}">
                <a16:creationId xmlns:a16="http://schemas.microsoft.com/office/drawing/2014/main" xmlns="" id="{619469AE-FBB5-4D73-8AA2-A7251232A383}"/>
              </a:ext>
            </a:extLst>
          </p:cNvPr>
          <p:cNvSpPr>
            <a:spLocks noGrp="1"/>
          </p:cNvSpPr>
          <p:nvPr/>
        </p:nvSpPr>
        <p:spPr>
          <a:xfrm>
            <a:off x="548640" y="2788920"/>
            <a:ext cx="457200" cy="457200"/>
          </a:xfrm>
          <a:prstGeom prst="rect">
            <a:avLst/>
          </a:prstGeom>
          <a:noFill/>
        </p:spPr>
        <p:txBody>
          <a:bodyPr wrap="square" lIns="0" tIns="0" rIns="0" bIns="0" anchor="ctr"/>
          <a:lstStyle/>
          <a:p>
            <a:pPr marL="0" indent="0" algn="ctr">
              <a:buNone/>
            </a:pPr>
            <a:r>
              <a:rPr sz="1600" b="1">
                <a:solidFill>
                  <a:schemeClr val="bg1"/>
                </a:solidFill>
                <a:latin typeface="Cambria"/>
                <a:ea typeface="Cambria"/>
                <a:cs typeface="Cambria"/>
              </a:rPr>
              <a:t>2</a:t>
            </a:r>
            <a:endParaRPr sz="1600"/>
          </a:p>
        </p:txBody>
      </p:sp>
      <p:sp>
        <p:nvSpPr>
          <p:cNvPr id="9" name="Text 7">
            <a:extLst>
              <a:ext uri="{FF2B5EF4-FFF2-40B4-BE49-F238E27FC236}">
                <a16:creationId xmlns:a16="http://schemas.microsoft.com/office/drawing/2014/main" xmlns="" id="{67883290-8BDE-4482-9735-5A43C3EEA115}"/>
              </a:ext>
            </a:extLst>
          </p:cNvPr>
          <p:cNvSpPr>
            <a:spLocks noGrp="1"/>
          </p:cNvSpPr>
          <p:nvPr/>
        </p:nvSpPr>
        <p:spPr>
          <a:xfrm>
            <a:off x="1234440" y="2697480"/>
            <a:ext cx="2011680" cy="640080"/>
          </a:xfrm>
          <a:prstGeom prst="rect">
            <a:avLst/>
          </a:prstGeom>
          <a:noFill/>
        </p:spPr>
        <p:txBody>
          <a:bodyPr wrap="square" lIns="0" tIns="0" rIns="0" bIns="0" anchor="t"/>
          <a:lstStyle/>
          <a:p>
            <a:pPr marL="0" indent="0">
              <a:buNone/>
            </a:pPr>
            <a:r>
              <a:rPr sz="2000" b="1">
                <a:solidFill>
                  <a:schemeClr val="tx2"/>
                </a:solidFill>
                <a:latin typeface="Cambria"/>
                <a:ea typeface="Cambria"/>
                <a:cs typeface="Cambria"/>
              </a:rPr>
              <a:t>Variant</a:t>
            </a:r>
            <a:endParaRPr sz="2000"/>
          </a:p>
        </p:txBody>
      </p:sp>
      <p:sp>
        <p:nvSpPr>
          <p:cNvPr id="10" name="Text 8">
            <a:extLst>
              <a:ext uri="{FF2B5EF4-FFF2-40B4-BE49-F238E27FC236}">
                <a16:creationId xmlns:a16="http://schemas.microsoft.com/office/drawing/2014/main" xmlns="" id="{480E0FD3-B9C1-4A77-87C7-412415911DBB}"/>
              </a:ext>
            </a:extLst>
          </p:cNvPr>
          <p:cNvSpPr>
            <a:spLocks noGrp="1"/>
          </p:cNvSpPr>
          <p:nvPr/>
        </p:nvSpPr>
        <p:spPr>
          <a:xfrm>
            <a:off x="3291840" y="2697480"/>
            <a:ext cx="8321040" cy="914400"/>
          </a:xfrm>
          <a:prstGeom prst="rect">
            <a:avLst/>
          </a:prstGeom>
          <a:noFill/>
        </p:spPr>
        <p:txBody>
          <a:bodyPr wrap="square" lIns="0" tIns="0" rIns="0" bIns="0" anchor="t"/>
          <a:lstStyle/>
          <a:p>
            <a:pPr marL="0" indent="0">
              <a:buNone/>
            </a:pPr>
            <a:r>
              <a:rPr sz="1600">
                <a:solidFill>
                  <a:schemeClr val="tx1"/>
                </a:solidFill>
              </a:rPr>
              <a:t>Registration number 9 mod 8 = 1, which selects province code 2 and area code 2 (prov_code = 2, urban_rural = 2).</a:t>
            </a:r>
            <a:endParaRPr sz="1600"/>
          </a:p>
        </p:txBody>
      </p:sp>
      <p:sp>
        <p:nvSpPr>
          <p:cNvPr id="11" name="Marker 3">
            <a:extLst>
              <a:ext uri="{FF2B5EF4-FFF2-40B4-BE49-F238E27FC236}">
                <a16:creationId xmlns:a16="http://schemas.microsoft.com/office/drawing/2014/main" xmlns="" id="{9AB09779-AFFA-4964-96FF-E9E09B8F0150}"/>
              </a:ext>
            </a:extLst>
          </p:cNvPr>
          <p:cNvSpPr>
            <a:spLocks noGrp="1"/>
          </p:cNvSpPr>
          <p:nvPr/>
        </p:nvSpPr>
        <p:spPr>
          <a:xfrm>
            <a:off x="548640" y="3886200"/>
            <a:ext cx="457200" cy="457200"/>
          </a:xfrm>
          <a:prstGeom prst="ellipse">
            <a:avLst/>
          </a:prstGeom>
          <a:solidFill>
            <a:schemeClr val="accent2"/>
          </a:solidFill>
          <a:ln w="12700">
            <a:solidFill>
              <a:schemeClr val="accent2"/>
            </a:solidFill>
            <a:prstDash val="solid"/>
          </a:ln>
        </p:spPr>
      </p:sp>
      <p:sp>
        <p:nvSpPr>
          <p:cNvPr id="12" name="Text 10">
            <a:extLst>
              <a:ext uri="{FF2B5EF4-FFF2-40B4-BE49-F238E27FC236}">
                <a16:creationId xmlns:a16="http://schemas.microsoft.com/office/drawing/2014/main" xmlns="" id="{A43456D3-CB4A-4675-BFB6-FE9682D15129}"/>
              </a:ext>
            </a:extLst>
          </p:cNvPr>
          <p:cNvSpPr>
            <a:spLocks noGrp="1"/>
          </p:cNvSpPr>
          <p:nvPr/>
        </p:nvSpPr>
        <p:spPr>
          <a:xfrm>
            <a:off x="548640" y="3886200"/>
            <a:ext cx="457200" cy="457200"/>
          </a:xfrm>
          <a:prstGeom prst="rect">
            <a:avLst/>
          </a:prstGeom>
          <a:noFill/>
        </p:spPr>
        <p:txBody>
          <a:bodyPr wrap="square" lIns="0" tIns="0" rIns="0" bIns="0" anchor="ctr"/>
          <a:lstStyle/>
          <a:p>
            <a:pPr marL="0" indent="0" algn="ctr">
              <a:buNone/>
            </a:pPr>
            <a:r>
              <a:rPr sz="1600" b="1">
                <a:solidFill>
                  <a:schemeClr val="bg1"/>
                </a:solidFill>
                <a:latin typeface="Cambria"/>
                <a:ea typeface="Cambria"/>
                <a:cs typeface="Cambria"/>
              </a:rPr>
              <a:t>3</a:t>
            </a:r>
            <a:endParaRPr sz="1600"/>
          </a:p>
        </p:txBody>
      </p:sp>
      <p:sp>
        <p:nvSpPr>
          <p:cNvPr id="13" name="Text 11">
            <a:extLst>
              <a:ext uri="{FF2B5EF4-FFF2-40B4-BE49-F238E27FC236}">
                <a16:creationId xmlns:a16="http://schemas.microsoft.com/office/drawing/2014/main" xmlns="" id="{D58AE88C-4FA7-4AE7-BB16-B20D9BDE290B}"/>
              </a:ext>
            </a:extLst>
          </p:cNvPr>
          <p:cNvSpPr>
            <a:spLocks noGrp="1"/>
          </p:cNvSpPr>
          <p:nvPr/>
        </p:nvSpPr>
        <p:spPr>
          <a:xfrm>
            <a:off x="1234440" y="3794760"/>
            <a:ext cx="2011680" cy="640080"/>
          </a:xfrm>
          <a:prstGeom prst="rect">
            <a:avLst/>
          </a:prstGeom>
          <a:noFill/>
        </p:spPr>
        <p:txBody>
          <a:bodyPr wrap="square" lIns="0" tIns="0" rIns="0" bIns="0" anchor="t"/>
          <a:lstStyle/>
          <a:p>
            <a:pPr marL="0" indent="0">
              <a:buNone/>
            </a:pPr>
            <a:r>
              <a:rPr sz="2000" b="1">
                <a:solidFill>
                  <a:schemeClr val="tx2"/>
                </a:solidFill>
                <a:latin typeface="Cambria"/>
                <a:ea typeface="Cambria"/>
                <a:cs typeface="Cambria"/>
              </a:rPr>
              <a:t>Sample</a:t>
            </a:r>
            <a:endParaRPr sz="2000"/>
          </a:p>
        </p:txBody>
      </p:sp>
      <p:sp>
        <p:nvSpPr>
          <p:cNvPr id="14" name="Text 12">
            <a:extLst>
              <a:ext uri="{FF2B5EF4-FFF2-40B4-BE49-F238E27FC236}">
                <a16:creationId xmlns:a16="http://schemas.microsoft.com/office/drawing/2014/main" xmlns="" id="{E2F525A1-130E-42B4-BBCD-F4E3252B3372}"/>
              </a:ext>
            </a:extLst>
          </p:cNvPr>
          <p:cNvSpPr>
            <a:spLocks noGrp="1"/>
          </p:cNvSpPr>
          <p:nvPr/>
        </p:nvSpPr>
        <p:spPr>
          <a:xfrm>
            <a:off x="3291840" y="3794760"/>
            <a:ext cx="8321040" cy="914400"/>
          </a:xfrm>
          <a:prstGeom prst="rect">
            <a:avLst/>
          </a:prstGeom>
          <a:noFill/>
        </p:spPr>
        <p:txBody>
          <a:bodyPr wrap="square" lIns="0" tIns="0" rIns="0" bIns="0" anchor="t"/>
          <a:lstStyle/>
          <a:p>
            <a:pPr marL="0" indent="0">
              <a:buNone/>
            </a:pPr>
            <a:r>
              <a:rPr sz="1600">
                <a:solidFill>
                  <a:schemeClr val="tx1"/>
                </a:solidFill>
              </a:rPr>
              <a:t>Earners aged 15 to 64 with annual earnings above zero: 3,768 individuals.</a:t>
            </a:r>
            <a:endParaRPr sz="1600"/>
          </a:p>
        </p:txBody>
      </p:sp>
      <p:sp>
        <p:nvSpPr>
          <p:cNvPr id="15" name="Marker 4">
            <a:extLst>
              <a:ext uri="{FF2B5EF4-FFF2-40B4-BE49-F238E27FC236}">
                <a16:creationId xmlns:a16="http://schemas.microsoft.com/office/drawing/2014/main" xmlns="" id="{A8BDF721-1CB1-49C3-A88C-FFB4FF034AD6}"/>
              </a:ext>
            </a:extLst>
          </p:cNvPr>
          <p:cNvSpPr>
            <a:spLocks noGrp="1"/>
          </p:cNvSpPr>
          <p:nvPr/>
        </p:nvSpPr>
        <p:spPr>
          <a:xfrm>
            <a:off x="548640" y="4983480"/>
            <a:ext cx="457200" cy="457200"/>
          </a:xfrm>
          <a:prstGeom prst="ellipse">
            <a:avLst/>
          </a:prstGeom>
          <a:solidFill>
            <a:schemeClr val="accent2"/>
          </a:solidFill>
          <a:ln w="12700">
            <a:solidFill>
              <a:schemeClr val="accent2"/>
            </a:solidFill>
            <a:prstDash val="solid"/>
          </a:ln>
        </p:spPr>
      </p:sp>
      <p:sp>
        <p:nvSpPr>
          <p:cNvPr id="16" name="Text 14">
            <a:extLst>
              <a:ext uri="{FF2B5EF4-FFF2-40B4-BE49-F238E27FC236}">
                <a16:creationId xmlns:a16="http://schemas.microsoft.com/office/drawing/2014/main" xmlns="" id="{691D3E4F-6BE8-41E9-BB8F-E488FAB9D68A}"/>
              </a:ext>
            </a:extLst>
          </p:cNvPr>
          <p:cNvSpPr>
            <a:spLocks noGrp="1"/>
          </p:cNvSpPr>
          <p:nvPr/>
        </p:nvSpPr>
        <p:spPr>
          <a:xfrm>
            <a:off x="548640" y="4983480"/>
            <a:ext cx="457200" cy="457200"/>
          </a:xfrm>
          <a:prstGeom prst="rect">
            <a:avLst/>
          </a:prstGeom>
          <a:noFill/>
        </p:spPr>
        <p:txBody>
          <a:bodyPr wrap="square" lIns="0" tIns="0" rIns="0" bIns="0" anchor="ctr"/>
          <a:lstStyle/>
          <a:p>
            <a:pPr marL="0" indent="0" algn="ctr">
              <a:buNone/>
            </a:pPr>
            <a:r>
              <a:rPr sz="1600" b="1">
                <a:solidFill>
                  <a:schemeClr val="bg1"/>
                </a:solidFill>
                <a:latin typeface="Cambria"/>
                <a:ea typeface="Cambria"/>
                <a:cs typeface="Cambria"/>
              </a:rPr>
              <a:t>4</a:t>
            </a:r>
            <a:endParaRPr sz="1600"/>
          </a:p>
        </p:txBody>
      </p:sp>
      <p:sp>
        <p:nvSpPr>
          <p:cNvPr id="17" name="Text 15">
            <a:extLst>
              <a:ext uri="{FF2B5EF4-FFF2-40B4-BE49-F238E27FC236}">
                <a16:creationId xmlns:a16="http://schemas.microsoft.com/office/drawing/2014/main" xmlns="" id="{8902F9D2-C67D-482A-B325-5B7530B30BCE}"/>
              </a:ext>
            </a:extLst>
          </p:cNvPr>
          <p:cNvSpPr>
            <a:spLocks noGrp="1"/>
          </p:cNvSpPr>
          <p:nvPr/>
        </p:nvSpPr>
        <p:spPr>
          <a:xfrm>
            <a:off x="1234440" y="4892040"/>
            <a:ext cx="2011680" cy="640080"/>
          </a:xfrm>
          <a:prstGeom prst="rect">
            <a:avLst/>
          </a:prstGeom>
          <a:noFill/>
        </p:spPr>
        <p:txBody>
          <a:bodyPr wrap="square" lIns="0" tIns="0" rIns="0" bIns="0" anchor="t"/>
          <a:lstStyle/>
          <a:p>
            <a:pPr marL="0" indent="0">
              <a:buNone/>
            </a:pPr>
            <a:r>
              <a:rPr sz="2000" b="1">
                <a:solidFill>
                  <a:schemeClr val="tx2"/>
                </a:solidFill>
                <a:latin typeface="Cambria"/>
                <a:ea typeface="Cambria"/>
                <a:cs typeface="Cambria"/>
              </a:rPr>
              <a:t>Weights</a:t>
            </a:r>
            <a:endParaRPr sz="2000"/>
          </a:p>
        </p:txBody>
      </p:sp>
      <p:sp>
        <p:nvSpPr>
          <p:cNvPr id="18" name="Text 16">
            <a:extLst>
              <a:ext uri="{FF2B5EF4-FFF2-40B4-BE49-F238E27FC236}">
                <a16:creationId xmlns:a16="http://schemas.microsoft.com/office/drawing/2014/main" xmlns="" id="{0E132786-AE22-46DA-A9C8-1D758BA33486}"/>
              </a:ext>
            </a:extLst>
          </p:cNvPr>
          <p:cNvSpPr>
            <a:spLocks noGrp="1"/>
          </p:cNvSpPr>
          <p:nvPr/>
        </p:nvSpPr>
        <p:spPr>
          <a:xfrm>
            <a:off x="3291840" y="4892040"/>
            <a:ext cx="8321040" cy="914400"/>
          </a:xfrm>
          <a:prstGeom prst="rect">
            <a:avLst/>
          </a:prstGeom>
          <a:noFill/>
        </p:spPr>
        <p:txBody>
          <a:bodyPr wrap="square" lIns="0" tIns="0" rIns="0" bIns="0" anchor="t"/>
          <a:lstStyle/>
          <a:p>
            <a:pPr marL="0" indent="0">
              <a:buNone/>
            </a:pPr>
            <a:r>
              <a:rPr sz="1600">
                <a:solidFill>
                  <a:schemeClr val="tx1"/>
                </a:solidFill>
              </a:rPr>
              <a:t>Household weight (hhweight) applied to all quantiles and band means; counts are reported unweighted.</a:t>
            </a:r>
            <a:endParaRPr sz="1600"/>
          </a:p>
        </p:txBody>
      </p:sp>
      <p:sp>
        <p:nvSpPr>
          <p:cNvPr id="25" name="Slide Number Placeholder 0">
            <a:extLst>
              <a:ext uri="{FF2B5EF4-FFF2-40B4-BE49-F238E27FC236}">
                <a16:creationId xmlns:a16="http://schemas.microsoft.com/office/drawing/2014/main" xmlns="" id="{DD67D65F-2E23-4C45-BD6A-2B27D4128EE4}"/>
              </a:ext>
            </a:extLst>
          </p:cNvPr>
          <p:cNvSpPr>
            <a:spLocks noGrp="1"/>
          </p:cNvSpPr>
          <p:nvPr>
            <p:ph type="sldNum" idx="4294967295"/>
          </p:nvPr>
        </p:nvSpPr>
        <p:spPr>
          <a:xfrm>
            <a:off x="11091672" y="6355080"/>
            <a:ext cx="548640" cy="274320"/>
          </a:xfrm>
          <a:prstGeom prst="rect">
            <a:avLst/>
          </a:prstGeom>
        </p:spPr>
        <p:txBody>
          <a:bodyPr lIns="0" tIns="0" rIns="0" bIns="0"/>
          <a:lstStyle>
            <a:lvl1pPr>
              <a:buNone/>
              <a:defRPr sz="1000">
                <a:solidFill>
                  <a:srgbClr val="8A9A91"/>
                </a:solidFill>
              </a:defRPr>
            </a:lvl1pPr>
          </a:lstStyle>
          <a:p>
            <a:pPr algn="r">
              <a:buNone/>
            </a:pPr>
            <a:fld id="{F7021451-1387-4CA6-816F-3879F97B5CBC}" type="slidenum">
              <a:rPr b="0"/>
              <a:t>3</a:t>
            </a:fld>
            <a:endParaRPr/>
          </a:p>
        </p:txBody>
      </p:sp>
    </p:spTree>
    <p:extLst>
      <p:ext uri="{BB962C8B-B14F-4D97-AF65-F5344CB8AC3E}">
        <p14:creationId xmlns:p14="http://schemas.microsoft.com/office/powerpoint/2010/main" val="18816856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a:extLst>
              <a:ext uri="{FF2B5EF4-FFF2-40B4-BE49-F238E27FC236}">
                <a16:creationId xmlns:a16="http://schemas.microsoft.com/office/drawing/2014/main" xmlns="" id="{2952FFF7-6FB8-41F8-B9A0-8A5F99DDBCF4}"/>
              </a:ext>
            </a:extLst>
          </p:cNvPr>
          <p:cNvSpPr>
            <a:spLocks noGrp="1"/>
          </p:cNvSpPr>
          <p:nvPr>
            <p:ph type="title" idx="101"/>
          </p:nvPr>
        </p:nvSpPr>
        <p:spPr>
          <a:xfrm>
            <a:off x="548640" y="365760"/>
            <a:ext cx="11091672" cy="914400"/>
          </a:xfrm>
          <a:prstGeom prst="rect">
            <a:avLst/>
          </a:prstGeom>
          <a:noFill/>
        </p:spPr>
        <p:txBody>
          <a:bodyPr wrap="square" lIns="0" tIns="0" rIns="0" bIns="0" anchor="t"/>
          <a:lstStyle/>
          <a:p>
            <a:pPr marL="0" indent="0" algn="l">
              <a:buNone/>
            </a:pPr>
            <a:r>
              <a:rPr sz="3000" b="1">
                <a:solidFill>
                  <a:schemeClr val="tx2"/>
                </a:solidFill>
                <a:latin typeface="Cambria"/>
                <a:ea typeface="Cambria"/>
                <a:cs typeface="Cambria"/>
              </a:rPr>
              <a:t>Half of earners make under Rs 240,000; the top tenth make Rs 660,000 or more</a:t>
            </a:r>
            <a:endParaRPr sz="3000"/>
          </a:p>
        </p:txBody>
      </p:sp>
      <p:graphicFrame>
        <p:nvGraphicFramePr>
          <p:cNvPr id="28" name="Chart 0"/>
          <p:cNvGraphicFramePr/>
          <p:nvPr/>
        </p:nvGraphicFramePr>
        <p:xfrm>
          <a:off x="457200" y="1417320"/>
          <a:ext cx="7863840" cy="4754880"/>
        </p:xfrm>
        <a:graphic>
          <a:graphicData uri="http://schemas.openxmlformats.org/drawingml/2006/chart">
            <c:chart xmlns:c="http://schemas.openxmlformats.org/drawingml/2006/chart" xmlns:r="http://schemas.openxmlformats.org/officeDocument/2006/relationships" r:id="rId3"/>
          </a:graphicData>
        </a:graphic>
      </p:graphicFrame>
      <p:sp>
        <p:nvSpPr>
          <p:cNvPr id="4" name="Reading panel">
            <a:extLst>
              <a:ext uri="{FF2B5EF4-FFF2-40B4-BE49-F238E27FC236}">
                <a16:creationId xmlns:a16="http://schemas.microsoft.com/office/drawing/2014/main" xmlns="" id="{253C0B66-11D3-43C0-88E3-324CA8763684}"/>
              </a:ext>
            </a:extLst>
          </p:cNvPr>
          <p:cNvSpPr>
            <a:spLocks noGrp="1"/>
          </p:cNvSpPr>
          <p:nvPr/>
        </p:nvSpPr>
        <p:spPr>
          <a:xfrm>
            <a:off x="8595360" y="1508760"/>
            <a:ext cx="3044952" cy="4526280"/>
          </a:xfrm>
          <a:prstGeom prst="rect">
            <a:avLst/>
          </a:prstGeom>
          <a:solidFill>
            <a:schemeClr val="bg2"/>
          </a:solidFill>
          <a:ln w="9525">
            <a:solidFill>
              <a:srgbClr val="D5DDD8"/>
            </a:solidFill>
            <a:prstDash val="solid"/>
          </a:ln>
        </p:spPr>
      </p:sp>
      <p:sp>
        <p:nvSpPr>
          <p:cNvPr id="5" name="Legend key 1">
            <a:extLst>
              <a:ext uri="{FF2B5EF4-FFF2-40B4-BE49-F238E27FC236}">
                <a16:creationId xmlns:a16="http://schemas.microsoft.com/office/drawing/2014/main" xmlns="" id="{D0D0760B-28BE-44B3-B225-2B32194D8AAA}"/>
              </a:ext>
            </a:extLst>
          </p:cNvPr>
          <p:cNvSpPr>
            <a:spLocks noGrp="1"/>
          </p:cNvSpPr>
          <p:nvPr/>
        </p:nvSpPr>
        <p:spPr>
          <a:xfrm>
            <a:off x="8823960" y="1810512"/>
            <a:ext cx="274320" cy="274320"/>
          </a:xfrm>
          <a:prstGeom prst="rect">
            <a:avLst/>
          </a:prstGeom>
          <a:solidFill>
            <a:schemeClr val="accent2"/>
          </a:solidFill>
          <a:ln w="12700">
            <a:solidFill>
              <a:schemeClr val="accent2"/>
            </a:solidFill>
            <a:prstDash val="solid"/>
          </a:ln>
        </p:spPr>
      </p:sp>
      <p:sp>
        <p:nvSpPr>
          <p:cNvPr id="6" name="Text 3">
            <a:extLst>
              <a:ext uri="{FF2B5EF4-FFF2-40B4-BE49-F238E27FC236}">
                <a16:creationId xmlns:a16="http://schemas.microsoft.com/office/drawing/2014/main" xmlns="" id="{4A92A257-4FA8-4F87-A680-A95D0CFF32DA}"/>
              </a:ext>
            </a:extLst>
          </p:cNvPr>
          <p:cNvSpPr>
            <a:spLocks noGrp="1"/>
          </p:cNvSpPr>
          <p:nvPr/>
        </p:nvSpPr>
        <p:spPr>
          <a:xfrm>
            <a:off x="9235440" y="1737360"/>
            <a:ext cx="2286000" cy="548640"/>
          </a:xfrm>
          <a:prstGeom prst="rect">
            <a:avLst/>
          </a:prstGeom>
          <a:noFill/>
        </p:spPr>
        <p:txBody>
          <a:bodyPr wrap="square" lIns="0" tIns="0" rIns="0" bIns="0" anchor="t"/>
          <a:lstStyle/>
          <a:p>
            <a:pPr marL="0" indent="0">
              <a:buNone/>
            </a:pPr>
            <a:r>
              <a:rPr sz="1400" b="1">
                <a:solidFill>
                  <a:schemeClr val="tx1"/>
                </a:solidFill>
              </a:rPr>
              <a:t>Median bin</a:t>
            </a:r>
            <a:endParaRPr sz="1400"/>
          </a:p>
          <a:p>
            <a:pPr marL="0" indent="0">
              <a:buNone/>
            </a:pPr>
            <a:r>
              <a:rPr sz="1400">
                <a:solidFill>
                  <a:schemeClr val="tx1"/>
                </a:solidFill>
              </a:rPr>
              <a:t>Rs 240,000</a:t>
            </a:r>
            <a:endParaRPr sz="1400"/>
          </a:p>
        </p:txBody>
      </p:sp>
      <p:sp>
        <p:nvSpPr>
          <p:cNvPr id="7" name="Legend key 2">
            <a:extLst>
              <a:ext uri="{FF2B5EF4-FFF2-40B4-BE49-F238E27FC236}">
                <a16:creationId xmlns:a16="http://schemas.microsoft.com/office/drawing/2014/main" xmlns="" id="{1A0B82DB-BB14-4A35-B007-51224AEF83D8}"/>
              </a:ext>
            </a:extLst>
          </p:cNvPr>
          <p:cNvSpPr>
            <a:spLocks noGrp="1"/>
          </p:cNvSpPr>
          <p:nvPr/>
        </p:nvSpPr>
        <p:spPr>
          <a:xfrm>
            <a:off x="8823960" y="2496312"/>
            <a:ext cx="274320" cy="274320"/>
          </a:xfrm>
          <a:prstGeom prst="rect">
            <a:avLst/>
          </a:prstGeom>
          <a:solidFill>
            <a:schemeClr val="accent5"/>
          </a:solidFill>
          <a:ln w="12700">
            <a:solidFill>
              <a:schemeClr val="accent5"/>
            </a:solidFill>
            <a:prstDash val="solid"/>
          </a:ln>
        </p:spPr>
      </p:sp>
      <p:sp>
        <p:nvSpPr>
          <p:cNvPr id="8" name="Text 5">
            <a:extLst>
              <a:ext uri="{FF2B5EF4-FFF2-40B4-BE49-F238E27FC236}">
                <a16:creationId xmlns:a16="http://schemas.microsoft.com/office/drawing/2014/main" xmlns="" id="{C1BBEBA4-661A-434A-A269-DE44D9699380}"/>
              </a:ext>
            </a:extLst>
          </p:cNvPr>
          <p:cNvSpPr>
            <a:spLocks noGrp="1"/>
          </p:cNvSpPr>
          <p:nvPr/>
        </p:nvSpPr>
        <p:spPr>
          <a:xfrm>
            <a:off x="9235440" y="2423160"/>
            <a:ext cx="2286000" cy="548640"/>
          </a:xfrm>
          <a:prstGeom prst="rect">
            <a:avLst/>
          </a:prstGeom>
          <a:noFill/>
        </p:spPr>
        <p:txBody>
          <a:bodyPr wrap="square" lIns="0" tIns="0" rIns="0" bIns="0" anchor="t"/>
          <a:lstStyle/>
          <a:p>
            <a:pPr marL="0" indent="0">
              <a:buNone/>
            </a:pPr>
            <a:r>
              <a:rPr sz="1400" b="1">
                <a:solidFill>
                  <a:schemeClr val="tx1"/>
                </a:solidFill>
              </a:rPr>
              <a:t>90th percentile bin</a:t>
            </a:r>
            <a:endParaRPr sz="1400"/>
          </a:p>
          <a:p>
            <a:pPr marL="0" indent="0">
              <a:buNone/>
            </a:pPr>
            <a:r>
              <a:rPr sz="1400">
                <a:solidFill>
                  <a:schemeClr val="tx1"/>
                </a:solidFill>
              </a:rPr>
              <a:t>Rs 660,000</a:t>
            </a:r>
            <a:endParaRPr sz="1400"/>
          </a:p>
        </p:txBody>
      </p:sp>
      <p:sp>
        <p:nvSpPr>
          <p:cNvPr id="9" name="Text 6">
            <a:extLst>
              <a:ext uri="{FF2B5EF4-FFF2-40B4-BE49-F238E27FC236}">
                <a16:creationId xmlns:a16="http://schemas.microsoft.com/office/drawing/2014/main" xmlns="" id="{C29C6724-A6DA-4A7A-BB20-400718E33D8D}"/>
              </a:ext>
            </a:extLst>
          </p:cNvPr>
          <p:cNvSpPr>
            <a:spLocks noGrp="1"/>
          </p:cNvSpPr>
          <p:nvPr/>
        </p:nvSpPr>
        <p:spPr>
          <a:xfrm>
            <a:off x="8823960" y="3200400"/>
            <a:ext cx="2651760" cy="1371600"/>
          </a:xfrm>
          <a:prstGeom prst="rect">
            <a:avLst/>
          </a:prstGeom>
          <a:noFill/>
        </p:spPr>
        <p:txBody>
          <a:bodyPr wrap="square" lIns="0" tIns="0" rIns="0" bIns="0" anchor="t"/>
          <a:lstStyle/>
          <a:p>
            <a:pPr marL="0" indent="0">
              <a:spcAft>
                <a:spcPts val="600"/>
              </a:spcAft>
              <a:buNone/>
            </a:pPr>
            <a:r>
              <a:rPr sz="1400">
                <a:solidFill>
                  <a:schemeClr val="tx1"/>
                </a:solidFill>
              </a:rPr>
              <a:t>10th percentile: Rs 96,000</a:t>
            </a:r>
            <a:endParaRPr sz="1400"/>
          </a:p>
          <a:p>
            <a:pPr marL="0" indent="0">
              <a:spcAft>
                <a:spcPts val="600"/>
              </a:spcAft>
              <a:buNone/>
            </a:pPr>
            <a:r>
              <a:rPr sz="1400">
                <a:solidFill>
                  <a:schemeClr val="tx1"/>
                </a:solidFill>
              </a:rPr>
              <a:t>Median: Rs 240,000</a:t>
            </a:r>
            <a:endParaRPr sz="1400"/>
          </a:p>
          <a:p>
            <a:pPr marL="0" indent="0">
              <a:spcAft>
                <a:spcPts val="600"/>
              </a:spcAft>
              <a:buNone/>
            </a:pPr>
            <a:r>
              <a:rPr sz="1400">
                <a:solidFill>
                  <a:schemeClr val="tx1"/>
                </a:solidFill>
              </a:rPr>
              <a:t>90th percentile: Rs 660,000</a:t>
            </a:r>
            <a:endParaRPr sz="1400"/>
          </a:p>
          <a:p>
            <a:pPr marL="0" indent="0">
              <a:spcAft>
                <a:spcPts val="600"/>
              </a:spcAft>
              <a:buNone/>
            </a:pPr>
            <a:r>
              <a:rPr sz="1400" b="1">
                <a:solidFill>
                  <a:srgbClr val="0B3D2E"/>
                </a:solidFill>
              </a:rPr>
              <a:t>P90 / P10 = 6.88</a:t>
            </a:r>
            <a:endParaRPr sz="1400"/>
          </a:p>
        </p:txBody>
      </p:sp>
      <p:sp>
        <p:nvSpPr>
          <p:cNvPr id="10" name="Text 7">
            <a:extLst>
              <a:ext uri="{FF2B5EF4-FFF2-40B4-BE49-F238E27FC236}">
                <a16:creationId xmlns:a16="http://schemas.microsoft.com/office/drawing/2014/main" xmlns="" id="{7674744E-4544-473A-AB2D-464AF022CE37}"/>
              </a:ext>
            </a:extLst>
          </p:cNvPr>
          <p:cNvSpPr>
            <a:spLocks noGrp="1"/>
          </p:cNvSpPr>
          <p:nvPr/>
        </p:nvSpPr>
        <p:spPr>
          <a:xfrm>
            <a:off x="8823960" y="4754880"/>
            <a:ext cx="2651760" cy="1097280"/>
          </a:xfrm>
          <a:prstGeom prst="rect">
            <a:avLst/>
          </a:prstGeom>
          <a:noFill/>
        </p:spPr>
        <p:txBody>
          <a:bodyPr wrap="square" lIns="0" tIns="0" rIns="0" bIns="0" anchor="t"/>
          <a:lstStyle/>
          <a:p>
            <a:pPr marL="0" indent="0">
              <a:buNone/>
            </a:pPr>
            <a:r>
              <a:rPr sz="1200">
                <a:solidFill>
                  <a:srgbClr val="1F2933"/>
                </a:solidFill>
              </a:rPr>
              <a:t>Plotted range: Rs 10,000 to Rs 10,000,000. Twenty-five earners outside it (20 below, 5 above) are excluded.</a:t>
            </a:r>
            <a:endParaRPr sz="1200"/>
          </a:p>
        </p:txBody>
      </p:sp>
      <p:sp>
        <p:nvSpPr>
          <p:cNvPr id="25" name="Slide Number Placeholder 0">
            <a:extLst>
              <a:ext uri="{FF2B5EF4-FFF2-40B4-BE49-F238E27FC236}">
                <a16:creationId xmlns:a16="http://schemas.microsoft.com/office/drawing/2014/main" xmlns="" id="{6DE6FCE5-A6BA-4258-AD28-F4050BE93A1C}"/>
              </a:ext>
            </a:extLst>
          </p:cNvPr>
          <p:cNvSpPr>
            <a:spLocks noGrp="1"/>
          </p:cNvSpPr>
          <p:nvPr>
            <p:ph type="sldNum" idx="4294967295"/>
          </p:nvPr>
        </p:nvSpPr>
        <p:spPr>
          <a:xfrm>
            <a:off x="11091672" y="6355080"/>
            <a:ext cx="548640" cy="274320"/>
          </a:xfrm>
          <a:prstGeom prst="rect">
            <a:avLst/>
          </a:prstGeom>
        </p:spPr>
        <p:txBody>
          <a:bodyPr lIns="0" tIns="0" rIns="0" bIns="0"/>
          <a:lstStyle>
            <a:lvl1pPr>
              <a:buNone/>
              <a:defRPr sz="1000">
                <a:solidFill>
                  <a:srgbClr val="8A9A91"/>
                </a:solidFill>
              </a:defRPr>
            </a:lvl1pPr>
          </a:lstStyle>
          <a:p>
            <a:pPr algn="r">
              <a:buNone/>
            </a:pPr>
            <a:fld id="{F7021451-1387-4CA6-816F-3879F97B5CBC}" type="slidenum">
              <a:rPr b="0"/>
              <a:t>4</a:t>
            </a:fld>
            <a:endParaRPr/>
          </a:p>
        </p:txBody>
      </p:sp>
    </p:spTree>
    <p:extLst>
      <p:ext uri="{BB962C8B-B14F-4D97-AF65-F5344CB8AC3E}">
        <p14:creationId xmlns:p14="http://schemas.microsoft.com/office/powerpoint/2010/main" val="5412077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a:extLst>
              <a:ext uri="{FF2B5EF4-FFF2-40B4-BE49-F238E27FC236}">
                <a16:creationId xmlns:a16="http://schemas.microsoft.com/office/drawing/2014/main" xmlns="" id="{39542478-4ADF-4F8C-9F41-DD726F37BC22}"/>
              </a:ext>
            </a:extLst>
          </p:cNvPr>
          <p:cNvSpPr>
            <a:spLocks noGrp="1"/>
          </p:cNvSpPr>
          <p:nvPr>
            <p:ph type="title" idx="101"/>
          </p:nvPr>
        </p:nvSpPr>
        <p:spPr>
          <a:xfrm>
            <a:off x="548640" y="365760"/>
            <a:ext cx="11091672" cy="914400"/>
          </a:xfrm>
          <a:prstGeom prst="rect">
            <a:avLst/>
          </a:prstGeom>
          <a:noFill/>
        </p:spPr>
        <p:txBody>
          <a:bodyPr wrap="square" lIns="0" tIns="0" rIns="0" bIns="0" anchor="t"/>
          <a:lstStyle/>
          <a:p>
            <a:pPr marL="0" indent="0" algn="l">
              <a:buNone/>
            </a:pPr>
            <a:r>
              <a:rPr sz="3000" b="1">
                <a:solidFill>
                  <a:schemeClr val="tx2"/>
                </a:solidFill>
                <a:latin typeface="Cambria"/>
                <a:ea typeface="Cambria"/>
                <a:cs typeface="Cambria"/>
              </a:rPr>
              <a:t>Data quality: reported earnings are rounded and carry a few extreme values</a:t>
            </a:r>
            <a:endParaRPr sz="3000"/>
          </a:p>
        </p:txBody>
      </p:sp>
      <p:sp>
        <p:nvSpPr>
          <p:cNvPr id="3" name="Quality card 1">
            <a:extLst>
              <a:ext uri="{FF2B5EF4-FFF2-40B4-BE49-F238E27FC236}">
                <a16:creationId xmlns:a16="http://schemas.microsoft.com/office/drawing/2014/main" xmlns="" id="{776144D3-6959-43A5-A826-CA2F29955E7E}"/>
              </a:ext>
            </a:extLst>
          </p:cNvPr>
          <p:cNvSpPr>
            <a:spLocks noGrp="1"/>
          </p:cNvSpPr>
          <p:nvPr/>
        </p:nvSpPr>
        <p:spPr>
          <a:xfrm>
            <a:off x="548640" y="1600200"/>
            <a:ext cx="5422392" cy="4297680"/>
          </a:xfrm>
          <a:prstGeom prst="rect">
            <a:avLst/>
          </a:prstGeom>
          <a:solidFill>
            <a:schemeClr val="bg2"/>
          </a:solidFill>
          <a:ln w="9525">
            <a:solidFill>
              <a:srgbClr val="D5DDD8"/>
            </a:solidFill>
            <a:prstDash val="solid"/>
          </a:ln>
        </p:spPr>
      </p:sp>
      <p:sp>
        <p:nvSpPr>
          <p:cNvPr id="4" name="Text 2">
            <a:extLst>
              <a:ext uri="{FF2B5EF4-FFF2-40B4-BE49-F238E27FC236}">
                <a16:creationId xmlns:a16="http://schemas.microsoft.com/office/drawing/2014/main" xmlns="" id="{750E3781-5C76-4D8F-B2AB-7094A26F6AD4}"/>
              </a:ext>
            </a:extLst>
          </p:cNvPr>
          <p:cNvSpPr>
            <a:spLocks noGrp="1"/>
          </p:cNvSpPr>
          <p:nvPr/>
        </p:nvSpPr>
        <p:spPr>
          <a:xfrm>
            <a:off x="914400" y="1828800"/>
            <a:ext cx="4663440" cy="1097280"/>
          </a:xfrm>
          <a:prstGeom prst="rect">
            <a:avLst/>
          </a:prstGeom>
          <a:noFill/>
        </p:spPr>
        <p:txBody>
          <a:bodyPr wrap="square" lIns="0" tIns="0" rIns="0" bIns="0" anchor="ctr"/>
          <a:lstStyle/>
          <a:p>
            <a:pPr marL="0" indent="0">
              <a:buNone/>
            </a:pPr>
            <a:r>
              <a:rPr sz="6000" b="1">
                <a:solidFill>
                  <a:schemeClr val="accent2"/>
                </a:solidFill>
                <a:latin typeface="Cambria"/>
                <a:ea typeface="Cambria"/>
                <a:cs typeface="Cambria"/>
              </a:rPr>
              <a:t>7%</a:t>
            </a:r>
            <a:endParaRPr sz="6000"/>
          </a:p>
        </p:txBody>
      </p:sp>
      <p:sp>
        <p:nvSpPr>
          <p:cNvPr id="5" name="Text 3">
            <a:extLst>
              <a:ext uri="{FF2B5EF4-FFF2-40B4-BE49-F238E27FC236}">
                <a16:creationId xmlns:a16="http://schemas.microsoft.com/office/drawing/2014/main" xmlns="" id="{46386A15-F179-4EFB-8C62-0A4A232E9E4A}"/>
              </a:ext>
            </a:extLst>
          </p:cNvPr>
          <p:cNvSpPr>
            <a:spLocks noGrp="1"/>
          </p:cNvSpPr>
          <p:nvPr/>
        </p:nvSpPr>
        <p:spPr>
          <a:xfrm>
            <a:off x="914400" y="2971800"/>
            <a:ext cx="4663440" cy="731520"/>
          </a:xfrm>
          <a:prstGeom prst="rect">
            <a:avLst/>
          </a:prstGeom>
          <a:noFill/>
        </p:spPr>
        <p:txBody>
          <a:bodyPr wrap="square" lIns="0" tIns="0" rIns="0" bIns="0" anchor="t"/>
          <a:lstStyle/>
          <a:p>
            <a:pPr marL="0" indent="0">
              <a:buNone/>
            </a:pPr>
            <a:r>
              <a:rPr sz="2000" b="1">
                <a:solidFill>
                  <a:schemeClr val="tx2"/>
                </a:solidFill>
              </a:rPr>
              <a:t>report exactly Rs 240,000</a:t>
            </a:r>
            <a:endParaRPr sz="2000"/>
          </a:p>
        </p:txBody>
      </p:sp>
      <p:sp>
        <p:nvSpPr>
          <p:cNvPr id="6" name="Text 4">
            <a:extLst>
              <a:ext uri="{FF2B5EF4-FFF2-40B4-BE49-F238E27FC236}">
                <a16:creationId xmlns:a16="http://schemas.microsoft.com/office/drawing/2014/main" xmlns="" id="{243C85E0-92F3-4461-9B00-632ABAD6CB1E}"/>
              </a:ext>
            </a:extLst>
          </p:cNvPr>
          <p:cNvSpPr>
            <a:spLocks noGrp="1"/>
          </p:cNvSpPr>
          <p:nvPr/>
        </p:nvSpPr>
        <p:spPr>
          <a:xfrm>
            <a:off x="914400" y="3794760"/>
            <a:ext cx="4663440" cy="1828800"/>
          </a:xfrm>
          <a:prstGeom prst="rect">
            <a:avLst/>
          </a:prstGeom>
          <a:noFill/>
        </p:spPr>
        <p:txBody>
          <a:bodyPr wrap="square" lIns="0" tIns="0" rIns="0" bIns="0" anchor="t"/>
          <a:lstStyle/>
          <a:p>
            <a:pPr marL="0" indent="0">
              <a:buNone/>
            </a:pPr>
            <a:r>
              <a:rPr sz="1600">
                <a:solidFill>
                  <a:schemeClr val="tx1"/>
                </a:solidFill>
              </a:rPr>
              <a:t>This equals Rs 20,000 per month for 12 months. The spike sits on the 50th percentile, which is why the weighted and unweighted medians are identical.</a:t>
            </a:r>
            <a:endParaRPr sz="1600"/>
          </a:p>
        </p:txBody>
      </p:sp>
      <p:sp>
        <p:nvSpPr>
          <p:cNvPr id="7" name="Quality card 2">
            <a:extLst>
              <a:ext uri="{FF2B5EF4-FFF2-40B4-BE49-F238E27FC236}">
                <a16:creationId xmlns:a16="http://schemas.microsoft.com/office/drawing/2014/main" xmlns="" id="{28013233-8A61-4881-8780-2DB3D3042117}"/>
              </a:ext>
            </a:extLst>
          </p:cNvPr>
          <p:cNvSpPr>
            <a:spLocks noGrp="1"/>
          </p:cNvSpPr>
          <p:nvPr/>
        </p:nvSpPr>
        <p:spPr>
          <a:xfrm>
            <a:off x="6217920" y="1600200"/>
            <a:ext cx="5422392" cy="4297680"/>
          </a:xfrm>
          <a:prstGeom prst="rect">
            <a:avLst/>
          </a:prstGeom>
          <a:solidFill>
            <a:schemeClr val="bg2"/>
          </a:solidFill>
          <a:ln w="9525">
            <a:solidFill>
              <a:srgbClr val="D5DDD8"/>
            </a:solidFill>
            <a:prstDash val="solid"/>
          </a:ln>
        </p:spPr>
      </p:sp>
      <p:sp>
        <p:nvSpPr>
          <p:cNvPr id="8" name="Text 6">
            <a:extLst>
              <a:ext uri="{FF2B5EF4-FFF2-40B4-BE49-F238E27FC236}">
                <a16:creationId xmlns:a16="http://schemas.microsoft.com/office/drawing/2014/main" xmlns="" id="{635AA881-0779-451C-B69A-AA412998643E}"/>
              </a:ext>
            </a:extLst>
          </p:cNvPr>
          <p:cNvSpPr>
            <a:spLocks noGrp="1"/>
          </p:cNvSpPr>
          <p:nvPr/>
        </p:nvSpPr>
        <p:spPr>
          <a:xfrm>
            <a:off x="6583680" y="1828800"/>
            <a:ext cx="4663440" cy="1097280"/>
          </a:xfrm>
          <a:prstGeom prst="rect">
            <a:avLst/>
          </a:prstGeom>
          <a:noFill/>
        </p:spPr>
        <p:txBody>
          <a:bodyPr wrap="square" lIns="0" tIns="0" rIns="0" bIns="0" anchor="ctr"/>
          <a:lstStyle/>
          <a:p>
            <a:pPr marL="0" indent="0">
              <a:buNone/>
            </a:pPr>
            <a:r>
              <a:rPr sz="6000" b="1">
                <a:solidFill>
                  <a:schemeClr val="accent2"/>
                </a:solidFill>
                <a:latin typeface="Cambria"/>
                <a:ea typeface="Cambria"/>
                <a:cs typeface="Cambria"/>
              </a:rPr>
              <a:t>25</a:t>
            </a:r>
            <a:endParaRPr sz="6000"/>
          </a:p>
        </p:txBody>
      </p:sp>
      <p:sp>
        <p:nvSpPr>
          <p:cNvPr id="9" name="Text 7">
            <a:extLst>
              <a:ext uri="{FF2B5EF4-FFF2-40B4-BE49-F238E27FC236}">
                <a16:creationId xmlns:a16="http://schemas.microsoft.com/office/drawing/2014/main" xmlns="" id="{D2BB509B-DAEB-49D2-8F10-1F29F870CF4C}"/>
              </a:ext>
            </a:extLst>
          </p:cNvPr>
          <p:cNvSpPr>
            <a:spLocks noGrp="1"/>
          </p:cNvSpPr>
          <p:nvPr/>
        </p:nvSpPr>
        <p:spPr>
          <a:xfrm>
            <a:off x="6583680" y="2971800"/>
            <a:ext cx="4663440" cy="731520"/>
          </a:xfrm>
          <a:prstGeom prst="rect">
            <a:avLst/>
          </a:prstGeom>
          <a:noFill/>
        </p:spPr>
        <p:txBody>
          <a:bodyPr wrap="square" lIns="0" tIns="0" rIns="0" bIns="0" anchor="t"/>
          <a:lstStyle/>
          <a:p>
            <a:pPr marL="0" indent="0">
              <a:buNone/>
            </a:pPr>
            <a:r>
              <a:rPr sz="2000" b="1">
                <a:solidFill>
                  <a:schemeClr val="tx2"/>
                </a:solidFill>
              </a:rPr>
              <a:t>earners outside Rs 10,000 to Rs 10,000,000</a:t>
            </a:r>
            <a:endParaRPr sz="2000"/>
          </a:p>
        </p:txBody>
      </p:sp>
      <p:sp>
        <p:nvSpPr>
          <p:cNvPr id="10" name="Text 8">
            <a:extLst>
              <a:ext uri="{FF2B5EF4-FFF2-40B4-BE49-F238E27FC236}">
                <a16:creationId xmlns:a16="http://schemas.microsoft.com/office/drawing/2014/main" xmlns="" id="{8DF1CBD5-6FE2-4912-83E3-ECB67E927AAE}"/>
              </a:ext>
            </a:extLst>
          </p:cNvPr>
          <p:cNvSpPr>
            <a:spLocks noGrp="1"/>
          </p:cNvSpPr>
          <p:nvPr/>
        </p:nvSpPr>
        <p:spPr>
          <a:xfrm>
            <a:off x="6583680" y="3794760"/>
            <a:ext cx="4663440" cy="1828800"/>
          </a:xfrm>
          <a:prstGeom prst="rect">
            <a:avLst/>
          </a:prstGeom>
          <a:noFill/>
        </p:spPr>
        <p:txBody>
          <a:bodyPr wrap="square" lIns="0" tIns="0" rIns="0" bIns="0" anchor="t"/>
          <a:lstStyle/>
          <a:p>
            <a:pPr marL="0" indent="0">
              <a:buNone/>
            </a:pPr>
            <a:r>
              <a:rPr sz="1600">
                <a:solidFill>
                  <a:schemeClr val="tx1"/>
                </a:solidFill>
              </a:rPr>
              <a:t>Twenty report below Rs 10,000 and five above Rs 10,000,000, with a maximum of Rs 24,000,000. They are excluded from the histogram and disclosed in the caption.</a:t>
            </a:r>
            <a:endParaRPr sz="1600"/>
          </a:p>
        </p:txBody>
      </p:sp>
      <p:sp>
        <p:nvSpPr>
          <p:cNvPr id="25" name="Slide Number Placeholder 0">
            <a:extLst>
              <a:ext uri="{FF2B5EF4-FFF2-40B4-BE49-F238E27FC236}">
                <a16:creationId xmlns:a16="http://schemas.microsoft.com/office/drawing/2014/main" xmlns="" id="{B7726B82-8627-4C09-95A6-59B519E55A02}"/>
              </a:ext>
            </a:extLst>
          </p:cNvPr>
          <p:cNvSpPr>
            <a:spLocks noGrp="1"/>
          </p:cNvSpPr>
          <p:nvPr>
            <p:ph type="sldNum" idx="4294967295"/>
          </p:nvPr>
        </p:nvSpPr>
        <p:spPr>
          <a:xfrm>
            <a:off x="11091672" y="6355080"/>
            <a:ext cx="548640" cy="274320"/>
          </a:xfrm>
          <a:prstGeom prst="rect">
            <a:avLst/>
          </a:prstGeom>
        </p:spPr>
        <p:txBody>
          <a:bodyPr lIns="0" tIns="0" rIns="0" bIns="0"/>
          <a:lstStyle>
            <a:lvl1pPr>
              <a:buNone/>
              <a:defRPr sz="1000">
                <a:solidFill>
                  <a:srgbClr val="8A9A91"/>
                </a:solidFill>
              </a:defRPr>
            </a:lvl1pPr>
          </a:lstStyle>
          <a:p>
            <a:pPr algn="r">
              <a:buNone/>
            </a:pPr>
            <a:fld id="{F7021451-1387-4CA6-816F-3879F97B5CBC}" type="slidenum">
              <a:rPr b="0"/>
              <a:t>5</a:t>
            </a:fld>
            <a:endParaRPr/>
          </a:p>
        </p:txBody>
      </p:sp>
    </p:spTree>
    <p:extLst>
      <p:ext uri="{BB962C8B-B14F-4D97-AF65-F5344CB8AC3E}">
        <p14:creationId xmlns:p14="http://schemas.microsoft.com/office/powerpoint/2010/main" val="8503553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a:extLst>
              <a:ext uri="{FF2B5EF4-FFF2-40B4-BE49-F238E27FC236}">
                <a16:creationId xmlns:a16="http://schemas.microsoft.com/office/drawing/2014/main" xmlns="" id="{6C9481F2-B3EC-48DD-AE33-51F89F4EDA19}"/>
              </a:ext>
            </a:extLst>
          </p:cNvPr>
          <p:cNvSpPr>
            <a:spLocks noGrp="1"/>
          </p:cNvSpPr>
          <p:nvPr>
            <p:ph type="title" idx="101"/>
          </p:nvPr>
        </p:nvSpPr>
        <p:spPr>
          <a:xfrm>
            <a:off x="548640" y="365760"/>
            <a:ext cx="11091672" cy="914400"/>
          </a:xfrm>
          <a:prstGeom prst="rect">
            <a:avLst/>
          </a:prstGeom>
          <a:noFill/>
        </p:spPr>
        <p:txBody>
          <a:bodyPr wrap="square" lIns="0" tIns="0" rIns="0" bIns="0" anchor="t"/>
          <a:lstStyle/>
          <a:p>
            <a:pPr marL="0" indent="0" algn="l">
              <a:buNone/>
            </a:pPr>
            <a:r>
              <a:rPr sz="3000" b="1">
                <a:solidFill>
                  <a:schemeClr val="tx2"/>
                </a:solidFill>
                <a:latin typeface="Cambria"/>
                <a:ea typeface="Cambria"/>
                <a:cs typeface="Cambria"/>
              </a:rPr>
              <a:t>Mean earnings rise with age, plateau after 50, and peak at ages 55 to 59</a:t>
            </a:r>
            <a:endParaRPr sz="3000"/>
          </a:p>
        </p:txBody>
      </p:sp>
      <p:graphicFrame>
        <p:nvGraphicFramePr>
          <p:cNvPr id="28" name="Chart 0"/>
          <p:cNvGraphicFramePr/>
          <p:nvPr/>
        </p:nvGraphicFramePr>
        <p:xfrm>
          <a:off x="457200" y="1417320"/>
          <a:ext cx="7863840" cy="4754880"/>
        </p:xfrm>
        <a:graphic>
          <a:graphicData uri="http://schemas.openxmlformats.org/drawingml/2006/chart">
            <c:chart xmlns:c="http://schemas.openxmlformats.org/drawingml/2006/chart" xmlns:r="http://schemas.openxmlformats.org/officeDocument/2006/relationships" r:id="rId3"/>
          </a:graphicData>
        </a:graphic>
      </p:graphicFrame>
      <p:sp>
        <p:nvSpPr>
          <p:cNvPr id="4" name="Insight panel">
            <a:extLst>
              <a:ext uri="{FF2B5EF4-FFF2-40B4-BE49-F238E27FC236}">
                <a16:creationId xmlns:a16="http://schemas.microsoft.com/office/drawing/2014/main" xmlns="" id="{1F550B8C-EED3-42D6-8CE3-A86368233972}"/>
              </a:ext>
            </a:extLst>
          </p:cNvPr>
          <p:cNvSpPr>
            <a:spLocks noGrp="1"/>
          </p:cNvSpPr>
          <p:nvPr/>
        </p:nvSpPr>
        <p:spPr>
          <a:xfrm>
            <a:off x="8595360" y="1508760"/>
            <a:ext cx="3044952" cy="4526280"/>
          </a:xfrm>
          <a:prstGeom prst="rect">
            <a:avLst/>
          </a:prstGeom>
          <a:solidFill>
            <a:schemeClr val="bg2"/>
          </a:solidFill>
          <a:ln w="9525">
            <a:solidFill>
              <a:srgbClr val="D5DDD8"/>
            </a:solidFill>
            <a:prstDash val="solid"/>
          </a:ln>
        </p:spPr>
      </p:sp>
      <p:sp>
        <p:nvSpPr>
          <p:cNvPr id="5" name="Text 2">
            <a:extLst>
              <a:ext uri="{FF2B5EF4-FFF2-40B4-BE49-F238E27FC236}">
                <a16:creationId xmlns:a16="http://schemas.microsoft.com/office/drawing/2014/main" xmlns="" id="{BA3906BF-7A62-4BDA-835C-78D940727AB9}"/>
              </a:ext>
            </a:extLst>
          </p:cNvPr>
          <p:cNvSpPr>
            <a:spLocks noGrp="1"/>
          </p:cNvSpPr>
          <p:nvPr/>
        </p:nvSpPr>
        <p:spPr>
          <a:xfrm>
            <a:off x="8823960" y="1691640"/>
            <a:ext cx="2651760" cy="365760"/>
          </a:xfrm>
          <a:prstGeom prst="rect">
            <a:avLst/>
          </a:prstGeom>
          <a:noFill/>
        </p:spPr>
        <p:txBody>
          <a:bodyPr wrap="square" lIns="0" tIns="0" rIns="0" bIns="0" anchor="ctr"/>
          <a:lstStyle/>
          <a:p>
            <a:pPr marL="0" indent="0">
              <a:buNone/>
            </a:pPr>
            <a:r>
              <a:rPr sz="1800" b="1">
                <a:solidFill>
                  <a:schemeClr val="tx2"/>
                </a:solidFill>
                <a:latin typeface="Cambria"/>
                <a:ea typeface="Cambria"/>
                <a:cs typeface="Cambria"/>
              </a:rPr>
              <a:t>Three phases</a:t>
            </a:r>
            <a:endParaRPr sz="1800"/>
          </a:p>
        </p:txBody>
      </p:sp>
      <p:sp>
        <p:nvSpPr>
          <p:cNvPr id="6" name="Text 3">
            <a:extLst>
              <a:ext uri="{FF2B5EF4-FFF2-40B4-BE49-F238E27FC236}">
                <a16:creationId xmlns:a16="http://schemas.microsoft.com/office/drawing/2014/main" xmlns="" id="{EF197AD5-412C-4ABF-8AB3-8A4BAB1D09F4}"/>
              </a:ext>
            </a:extLst>
          </p:cNvPr>
          <p:cNvSpPr>
            <a:spLocks noGrp="1"/>
          </p:cNvSpPr>
          <p:nvPr/>
        </p:nvSpPr>
        <p:spPr>
          <a:xfrm>
            <a:off x="8823960" y="2194560"/>
            <a:ext cx="2651760" cy="2743200"/>
          </a:xfrm>
          <a:prstGeom prst="rect">
            <a:avLst/>
          </a:prstGeom>
          <a:noFill/>
        </p:spPr>
        <p:txBody>
          <a:bodyPr wrap="square" lIns="0" tIns="0" rIns="0" bIns="0" anchor="t"/>
          <a:lstStyle/>
          <a:p>
            <a:pPr marL="0" indent="0">
              <a:spcAft>
                <a:spcPts val="1000"/>
              </a:spcAft>
              <a:buNone/>
            </a:pPr>
            <a:r>
              <a:rPr sz="1400" b="1">
                <a:solidFill>
                  <a:schemeClr val="tx1"/>
                </a:solidFill>
              </a:rPr>
              <a:t>Ages 15 to 29: </a:t>
            </a:r>
            <a:r>
              <a:rPr sz="1400">
                <a:solidFill>
                  <a:schemeClr val="tx1"/>
                </a:solidFill>
              </a:rPr>
              <a:t>mean more than doubles, from Rs 145 thousand to Rs 321 thousand.</a:t>
            </a:r>
            <a:endParaRPr sz="1400"/>
          </a:p>
          <a:p>
            <a:pPr marL="0" indent="0">
              <a:spcAft>
                <a:spcPts val="1000"/>
              </a:spcAft>
              <a:buNone/>
            </a:pPr>
            <a:r>
              <a:rPr sz="1400" b="1">
                <a:solidFill>
                  <a:schemeClr val="tx1"/>
                </a:solidFill>
              </a:rPr>
              <a:t>Ages 30 to 59: </a:t>
            </a:r>
            <a:r>
              <a:rPr sz="1400">
                <a:solidFill>
                  <a:schemeClr val="tx1"/>
                </a:solidFill>
              </a:rPr>
              <a:t>gradual climb to about Rs 520 thousand, nearly flat from 50 to 59.</a:t>
            </a:r>
            <a:endParaRPr sz="1400"/>
          </a:p>
          <a:p>
            <a:pPr marL="0" indent="0">
              <a:spcAft>
                <a:spcPts val="1000"/>
              </a:spcAft>
              <a:buNone/>
            </a:pPr>
            <a:r>
              <a:rPr sz="1400" b="1">
                <a:solidFill>
                  <a:schemeClr val="tx1"/>
                </a:solidFill>
              </a:rPr>
              <a:t>Ages 60 to 64: </a:t>
            </a:r>
            <a:r>
              <a:rPr sz="1400">
                <a:solidFill>
                  <a:schemeClr val="tx1"/>
                </a:solidFill>
              </a:rPr>
              <a:t>mean eases to Rs 453 thousand.</a:t>
            </a:r>
            <a:endParaRPr sz="1400"/>
          </a:p>
        </p:txBody>
      </p:sp>
      <p:sp>
        <p:nvSpPr>
          <p:cNvPr id="7" name="Text 4">
            <a:extLst>
              <a:ext uri="{FF2B5EF4-FFF2-40B4-BE49-F238E27FC236}">
                <a16:creationId xmlns:a16="http://schemas.microsoft.com/office/drawing/2014/main" xmlns="" id="{60945B64-227C-49EB-80A7-0EEBEBE6AFC4}"/>
              </a:ext>
            </a:extLst>
          </p:cNvPr>
          <p:cNvSpPr>
            <a:spLocks noGrp="1"/>
          </p:cNvSpPr>
          <p:nvPr/>
        </p:nvSpPr>
        <p:spPr>
          <a:xfrm>
            <a:off x="8823960" y="5212080"/>
            <a:ext cx="2651760" cy="548640"/>
          </a:xfrm>
          <a:prstGeom prst="rect">
            <a:avLst/>
          </a:prstGeom>
          <a:noFill/>
        </p:spPr>
        <p:txBody>
          <a:bodyPr wrap="square" lIns="0" tIns="0" rIns="0" bIns="0" anchor="t"/>
          <a:lstStyle/>
          <a:p>
            <a:pPr marL="0" indent="0">
              <a:buNone/>
            </a:pPr>
            <a:r>
              <a:rPr sz="1200">
                <a:solidFill>
                  <a:srgbClr val="1F2933"/>
                </a:solidFill>
              </a:rPr>
              <a:t>Peak band highlighted. Weighted by hhweight.</a:t>
            </a:r>
            <a:endParaRPr sz="1200"/>
          </a:p>
        </p:txBody>
      </p:sp>
      <p:sp>
        <p:nvSpPr>
          <p:cNvPr id="25" name="Slide Number Placeholder 0">
            <a:extLst>
              <a:ext uri="{FF2B5EF4-FFF2-40B4-BE49-F238E27FC236}">
                <a16:creationId xmlns:a16="http://schemas.microsoft.com/office/drawing/2014/main" xmlns="" id="{FB4CDB86-951D-46FB-A9EF-45B484654DCF}"/>
              </a:ext>
            </a:extLst>
          </p:cNvPr>
          <p:cNvSpPr>
            <a:spLocks noGrp="1"/>
          </p:cNvSpPr>
          <p:nvPr>
            <p:ph type="sldNum" idx="4294967295"/>
          </p:nvPr>
        </p:nvSpPr>
        <p:spPr>
          <a:xfrm>
            <a:off x="11091672" y="6355080"/>
            <a:ext cx="548640" cy="274320"/>
          </a:xfrm>
          <a:prstGeom prst="rect">
            <a:avLst/>
          </a:prstGeom>
        </p:spPr>
        <p:txBody>
          <a:bodyPr lIns="0" tIns="0" rIns="0" bIns="0"/>
          <a:lstStyle>
            <a:lvl1pPr>
              <a:buNone/>
              <a:defRPr sz="1000">
                <a:solidFill>
                  <a:srgbClr val="8A9A91"/>
                </a:solidFill>
              </a:defRPr>
            </a:lvl1pPr>
          </a:lstStyle>
          <a:p>
            <a:pPr algn="r">
              <a:buNone/>
            </a:pPr>
            <a:fld id="{F7021451-1387-4CA6-816F-3879F97B5CBC}" type="slidenum">
              <a:rPr b="0"/>
              <a:t>6</a:t>
            </a:fld>
            <a:endParaRPr/>
          </a:p>
        </p:txBody>
      </p:sp>
    </p:spTree>
    <p:extLst>
      <p:ext uri="{BB962C8B-B14F-4D97-AF65-F5344CB8AC3E}">
        <p14:creationId xmlns:p14="http://schemas.microsoft.com/office/powerpoint/2010/main" val="10187262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a:extLst>
              <a:ext uri="{FF2B5EF4-FFF2-40B4-BE49-F238E27FC236}">
                <a16:creationId xmlns:a16="http://schemas.microsoft.com/office/drawing/2014/main" xmlns="" id="{69896D23-875E-4E8D-A12E-F1F42B62E5CD}"/>
              </a:ext>
            </a:extLst>
          </p:cNvPr>
          <p:cNvSpPr>
            <a:spLocks noGrp="1"/>
          </p:cNvSpPr>
          <p:nvPr>
            <p:ph type="title" idx="101"/>
          </p:nvPr>
        </p:nvSpPr>
        <p:spPr>
          <a:xfrm>
            <a:off x="548640" y="365760"/>
            <a:ext cx="11091672" cy="914400"/>
          </a:xfrm>
          <a:prstGeom prst="rect">
            <a:avLst/>
          </a:prstGeom>
          <a:noFill/>
        </p:spPr>
        <p:txBody>
          <a:bodyPr wrap="square" lIns="0" tIns="0" rIns="0" bIns="0" anchor="t"/>
          <a:lstStyle/>
          <a:p>
            <a:pPr marL="0" indent="0" algn="l">
              <a:buNone/>
            </a:pPr>
            <a:r>
              <a:rPr sz="3000" b="1">
                <a:solidFill>
                  <a:schemeClr val="tx2"/>
                </a:solidFill>
                <a:latin typeface="Cambria"/>
                <a:ea typeface="Cambria"/>
                <a:cs typeface="Cambria"/>
              </a:rPr>
              <a:t>Band table: every age band is supported by at least 130 earners</a:t>
            </a:r>
            <a:endParaRPr sz="3000"/>
          </a:p>
        </p:txBody>
      </p:sp>
      <p:graphicFrame>
        <p:nvGraphicFramePr>
          <p:cNvPr id="28" name="Table 0"/>
          <p:cNvGraphicFramePr/>
          <p:nvPr/>
        </p:nvGraphicFramePr>
        <p:xfrm>
          <a:off x="548640" y="1508760"/>
          <a:ext cx="7498080" cy="4325112"/>
        </p:xfrm>
        <a:graphic>
          <a:graphicData uri="http://schemas.openxmlformats.org/drawingml/2006/table">
            <a:tbl>
              <a:tblPr/>
              <a:tblGrid>
                <a:gridCol w="1554480"/>
                <a:gridCol w="1645920"/>
                <a:gridCol w="2194560"/>
                <a:gridCol w="2103120"/>
              </a:tblGrid>
              <a:tr h="393192">
                <a:tc>
                  <a:txBody>
                    <a:bodyPr/>
                    <a:lstStyle/>
                    <a:p>
                      <a:pPr marL="0" indent="0" algn="l">
                        <a:buNone/>
                      </a:pPr>
                      <a:r>
                        <a:rPr sz="1400" b="1">
                          <a:solidFill>
                            <a:srgbClr val="FFFFFF"/>
                          </a:solidFill>
                        </a:rPr>
                        <a:t>Age band</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0B3D2E"/>
                    </a:solidFill>
                  </a:tcPr>
                </a:tc>
                <a:tc>
                  <a:txBody>
                    <a:bodyPr/>
                    <a:lstStyle/>
                    <a:p>
                      <a:pPr marL="0" indent="0" algn="r">
                        <a:buNone/>
                      </a:pPr>
                      <a:r>
                        <a:rPr sz="1400" b="1">
                          <a:solidFill>
                            <a:srgbClr val="FFFFFF"/>
                          </a:solidFill>
                        </a:rPr>
                        <a:t>Earners (n)</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0B3D2E"/>
                    </a:solidFill>
                  </a:tcPr>
                </a:tc>
                <a:tc>
                  <a:txBody>
                    <a:bodyPr/>
                    <a:lstStyle/>
                    <a:p>
                      <a:pPr marL="0" indent="0" algn="r">
                        <a:buNone/>
                      </a:pPr>
                      <a:r>
                        <a:rPr sz="1400" b="1">
                          <a:solidFill>
                            <a:srgbClr val="FFFFFF"/>
                          </a:solidFill>
                        </a:rPr>
                        <a:t>Weighted mean (Rs)</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0B3D2E"/>
                    </a:solidFill>
                  </a:tcPr>
                </a:tc>
                <a:tc>
                  <a:txBody>
                    <a:bodyPr/>
                    <a:lstStyle/>
                    <a:p>
                      <a:pPr marL="0" indent="0" algn="r">
                        <a:buNone/>
                      </a:pPr>
                      <a:r>
                        <a:rPr sz="1400" b="1">
                          <a:solidFill>
                            <a:srgbClr val="FFFFFF"/>
                          </a:solidFill>
                        </a:rPr>
                        <a:t>Change vs. prior band</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0B3D2E"/>
                    </a:solidFill>
                  </a:tcPr>
                </a:tc>
              </a:tr>
              <a:tr h="393192">
                <a:tc>
                  <a:txBody>
                    <a:bodyPr/>
                    <a:lstStyle/>
                    <a:p>
                      <a:pPr marL="0" indent="0" algn="l">
                        <a:buNone/>
                      </a:pPr>
                      <a:r>
                        <a:rPr sz="1400">
                          <a:solidFill>
                            <a:srgbClr val="1F2933"/>
                          </a:solidFill>
                        </a:rPr>
                        <a:t>15-19</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c>
                  <a:txBody>
                    <a:bodyPr/>
                    <a:lstStyle/>
                    <a:p>
                      <a:pPr marL="0" indent="0" algn="r">
                        <a:buNone/>
                      </a:pPr>
                      <a:r>
                        <a:rPr sz="1400">
                          <a:solidFill>
                            <a:srgbClr val="1F2933"/>
                          </a:solidFill>
                        </a:rPr>
                        <a:t>229</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c>
                  <a:txBody>
                    <a:bodyPr/>
                    <a:lstStyle/>
                    <a:p>
                      <a:pPr marL="0" indent="0" algn="r">
                        <a:buNone/>
                      </a:pPr>
                      <a:r>
                        <a:rPr sz="1400">
                          <a:solidFill>
                            <a:srgbClr val="1F2933"/>
                          </a:solidFill>
                        </a:rPr>
                        <a:t>145,444</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c>
                  <a:txBody>
                    <a:bodyPr/>
                    <a:lstStyle/>
                    <a:p>
                      <a:pPr marL="0" indent="0" algn="r">
                        <a:buNone/>
                      </a:pPr>
                      <a:r>
                        <a:rPr sz="1400">
                          <a:solidFill>
                            <a:srgbClr val="1F2933"/>
                          </a:solidFill>
                        </a:rPr>
                        <a:t>n/a</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r>
              <a:tr h="393192">
                <a:tc>
                  <a:txBody>
                    <a:bodyPr/>
                    <a:lstStyle/>
                    <a:p>
                      <a:pPr marL="0" indent="0" algn="l">
                        <a:buNone/>
                      </a:pPr>
                      <a:r>
                        <a:rPr sz="1400">
                          <a:solidFill>
                            <a:srgbClr val="1F2933"/>
                          </a:solidFill>
                        </a:rPr>
                        <a:t>20-24</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c>
                  <a:txBody>
                    <a:bodyPr/>
                    <a:lstStyle/>
                    <a:p>
                      <a:pPr marL="0" indent="0" algn="r">
                        <a:buNone/>
                      </a:pPr>
                      <a:r>
                        <a:rPr sz="1400">
                          <a:solidFill>
                            <a:srgbClr val="1F2933"/>
                          </a:solidFill>
                        </a:rPr>
                        <a:t>449</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c>
                  <a:txBody>
                    <a:bodyPr/>
                    <a:lstStyle/>
                    <a:p>
                      <a:pPr marL="0" indent="0" algn="r">
                        <a:buNone/>
                      </a:pPr>
                      <a:r>
                        <a:rPr sz="1400">
                          <a:solidFill>
                            <a:srgbClr val="1F2933"/>
                          </a:solidFill>
                        </a:rPr>
                        <a:t>216,585</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c>
                  <a:txBody>
                    <a:bodyPr/>
                    <a:lstStyle/>
                    <a:p>
                      <a:pPr marL="0" indent="0" algn="r">
                        <a:buNone/>
                      </a:pPr>
                      <a:r>
                        <a:rPr sz="1400">
                          <a:solidFill>
                            <a:srgbClr val="1F2933"/>
                          </a:solidFill>
                        </a:rPr>
                        <a:t>+48.9%</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r>
              <a:tr h="393192">
                <a:tc>
                  <a:txBody>
                    <a:bodyPr/>
                    <a:lstStyle/>
                    <a:p>
                      <a:pPr marL="0" indent="0" algn="l">
                        <a:buNone/>
                      </a:pPr>
                      <a:r>
                        <a:rPr sz="1400">
                          <a:solidFill>
                            <a:srgbClr val="1F2933"/>
                          </a:solidFill>
                        </a:rPr>
                        <a:t>25-29</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c>
                  <a:txBody>
                    <a:bodyPr/>
                    <a:lstStyle/>
                    <a:p>
                      <a:pPr marL="0" indent="0" algn="r">
                        <a:buNone/>
                      </a:pPr>
                      <a:r>
                        <a:rPr sz="1400">
                          <a:solidFill>
                            <a:srgbClr val="1F2933"/>
                          </a:solidFill>
                        </a:rPr>
                        <a:t>499</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c>
                  <a:txBody>
                    <a:bodyPr/>
                    <a:lstStyle/>
                    <a:p>
                      <a:pPr marL="0" indent="0" algn="r">
                        <a:buNone/>
                      </a:pPr>
                      <a:r>
                        <a:rPr sz="1400">
                          <a:solidFill>
                            <a:srgbClr val="1F2933"/>
                          </a:solidFill>
                        </a:rPr>
                        <a:t>320,776</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c>
                  <a:txBody>
                    <a:bodyPr/>
                    <a:lstStyle/>
                    <a:p>
                      <a:pPr marL="0" indent="0" algn="r">
                        <a:buNone/>
                      </a:pPr>
                      <a:r>
                        <a:rPr sz="1400">
                          <a:solidFill>
                            <a:srgbClr val="1F2933"/>
                          </a:solidFill>
                        </a:rPr>
                        <a:t>+48.1%</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r>
              <a:tr h="393192">
                <a:tc>
                  <a:txBody>
                    <a:bodyPr/>
                    <a:lstStyle/>
                    <a:p>
                      <a:pPr marL="0" indent="0" algn="l">
                        <a:buNone/>
                      </a:pPr>
                      <a:r>
                        <a:rPr sz="1400">
                          <a:solidFill>
                            <a:srgbClr val="1F2933"/>
                          </a:solidFill>
                        </a:rPr>
                        <a:t>30-34</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c>
                  <a:txBody>
                    <a:bodyPr/>
                    <a:lstStyle/>
                    <a:p>
                      <a:pPr marL="0" indent="0" algn="r">
                        <a:buNone/>
                      </a:pPr>
                      <a:r>
                        <a:rPr sz="1400">
                          <a:solidFill>
                            <a:srgbClr val="1F2933"/>
                          </a:solidFill>
                        </a:rPr>
                        <a:t>518</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c>
                  <a:txBody>
                    <a:bodyPr/>
                    <a:lstStyle/>
                    <a:p>
                      <a:pPr marL="0" indent="0" algn="r">
                        <a:buNone/>
                      </a:pPr>
                      <a:r>
                        <a:rPr sz="1400">
                          <a:solidFill>
                            <a:srgbClr val="1F2933"/>
                          </a:solidFill>
                        </a:rPr>
                        <a:t>369,580</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c>
                  <a:txBody>
                    <a:bodyPr/>
                    <a:lstStyle/>
                    <a:p>
                      <a:pPr marL="0" indent="0" algn="r">
                        <a:buNone/>
                      </a:pPr>
                      <a:r>
                        <a:rPr sz="1400">
                          <a:solidFill>
                            <a:srgbClr val="1F2933"/>
                          </a:solidFill>
                        </a:rPr>
                        <a:t>+15.2%</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r>
              <a:tr h="393192">
                <a:tc>
                  <a:txBody>
                    <a:bodyPr/>
                    <a:lstStyle/>
                    <a:p>
                      <a:pPr marL="0" indent="0" algn="l">
                        <a:buNone/>
                      </a:pPr>
                      <a:r>
                        <a:rPr sz="1400">
                          <a:solidFill>
                            <a:srgbClr val="1F2933"/>
                          </a:solidFill>
                        </a:rPr>
                        <a:t>35-39</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c>
                  <a:txBody>
                    <a:bodyPr/>
                    <a:lstStyle/>
                    <a:p>
                      <a:pPr marL="0" indent="0" algn="r">
                        <a:buNone/>
                      </a:pPr>
                      <a:r>
                        <a:rPr sz="1400">
                          <a:solidFill>
                            <a:srgbClr val="1F2933"/>
                          </a:solidFill>
                        </a:rPr>
                        <a:t>498</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c>
                  <a:txBody>
                    <a:bodyPr/>
                    <a:lstStyle/>
                    <a:p>
                      <a:pPr marL="0" indent="0" algn="r">
                        <a:buNone/>
                      </a:pPr>
                      <a:r>
                        <a:rPr sz="1400">
                          <a:solidFill>
                            <a:srgbClr val="1F2933"/>
                          </a:solidFill>
                        </a:rPr>
                        <a:t>354,031</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c>
                  <a:txBody>
                    <a:bodyPr/>
                    <a:lstStyle/>
                    <a:p>
                      <a:pPr marL="0" indent="0" algn="r">
                        <a:buNone/>
                      </a:pPr>
                      <a:r>
                        <a:rPr sz="1400">
                          <a:solidFill>
                            <a:srgbClr val="1F2933"/>
                          </a:solidFill>
                        </a:rPr>
                        <a:t>-4.2%</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r>
              <a:tr h="393192">
                <a:tc>
                  <a:txBody>
                    <a:bodyPr/>
                    <a:lstStyle/>
                    <a:p>
                      <a:pPr marL="0" indent="0" algn="l">
                        <a:buNone/>
                      </a:pPr>
                      <a:r>
                        <a:rPr sz="1400">
                          <a:solidFill>
                            <a:srgbClr val="1F2933"/>
                          </a:solidFill>
                        </a:rPr>
                        <a:t>40-44</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c>
                  <a:txBody>
                    <a:bodyPr/>
                    <a:lstStyle/>
                    <a:p>
                      <a:pPr marL="0" indent="0" algn="r">
                        <a:buNone/>
                      </a:pPr>
                      <a:r>
                        <a:rPr sz="1400">
                          <a:solidFill>
                            <a:srgbClr val="1F2933"/>
                          </a:solidFill>
                        </a:rPr>
                        <a:t>435</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c>
                  <a:txBody>
                    <a:bodyPr/>
                    <a:lstStyle/>
                    <a:p>
                      <a:pPr marL="0" indent="0" algn="r">
                        <a:buNone/>
                      </a:pPr>
                      <a:r>
                        <a:rPr sz="1400">
                          <a:solidFill>
                            <a:srgbClr val="1F2933"/>
                          </a:solidFill>
                        </a:rPr>
                        <a:t>498,966</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c>
                  <a:txBody>
                    <a:bodyPr/>
                    <a:lstStyle/>
                    <a:p>
                      <a:pPr marL="0" indent="0" algn="r">
                        <a:buNone/>
                      </a:pPr>
                      <a:r>
                        <a:rPr sz="1400">
                          <a:solidFill>
                            <a:srgbClr val="1F2933"/>
                          </a:solidFill>
                        </a:rPr>
                        <a:t>+40.9%</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r>
              <a:tr h="393192">
                <a:tc>
                  <a:txBody>
                    <a:bodyPr/>
                    <a:lstStyle/>
                    <a:p>
                      <a:pPr marL="0" indent="0" algn="l">
                        <a:buNone/>
                      </a:pPr>
                      <a:r>
                        <a:rPr sz="1400">
                          <a:solidFill>
                            <a:srgbClr val="1F2933"/>
                          </a:solidFill>
                        </a:rPr>
                        <a:t>45-49</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c>
                  <a:txBody>
                    <a:bodyPr/>
                    <a:lstStyle/>
                    <a:p>
                      <a:pPr marL="0" indent="0" algn="r">
                        <a:buNone/>
                      </a:pPr>
                      <a:r>
                        <a:rPr sz="1400">
                          <a:solidFill>
                            <a:srgbClr val="1F2933"/>
                          </a:solidFill>
                        </a:rPr>
                        <a:t>427</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c>
                  <a:txBody>
                    <a:bodyPr/>
                    <a:lstStyle/>
                    <a:p>
                      <a:pPr marL="0" indent="0" algn="r">
                        <a:buNone/>
                      </a:pPr>
                      <a:r>
                        <a:rPr sz="1400">
                          <a:solidFill>
                            <a:srgbClr val="1F2933"/>
                          </a:solidFill>
                        </a:rPr>
                        <a:t>465,073</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c>
                  <a:txBody>
                    <a:bodyPr/>
                    <a:lstStyle/>
                    <a:p>
                      <a:pPr marL="0" indent="0" algn="r">
                        <a:buNone/>
                      </a:pPr>
                      <a:r>
                        <a:rPr sz="1400">
                          <a:solidFill>
                            <a:srgbClr val="1F2933"/>
                          </a:solidFill>
                        </a:rPr>
                        <a:t>-6.8%</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r>
              <a:tr h="393192">
                <a:tc>
                  <a:txBody>
                    <a:bodyPr/>
                    <a:lstStyle/>
                    <a:p>
                      <a:pPr marL="0" indent="0" algn="l">
                        <a:buNone/>
                      </a:pPr>
                      <a:r>
                        <a:rPr sz="1400">
                          <a:solidFill>
                            <a:srgbClr val="1F2933"/>
                          </a:solidFill>
                        </a:rPr>
                        <a:t>50-54</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c>
                  <a:txBody>
                    <a:bodyPr/>
                    <a:lstStyle/>
                    <a:p>
                      <a:pPr marL="0" indent="0" algn="r">
                        <a:buNone/>
                      </a:pPr>
                      <a:r>
                        <a:rPr sz="1400">
                          <a:solidFill>
                            <a:srgbClr val="1F2933"/>
                          </a:solidFill>
                        </a:rPr>
                        <a:t>363</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c>
                  <a:txBody>
                    <a:bodyPr/>
                    <a:lstStyle/>
                    <a:p>
                      <a:pPr marL="0" indent="0" algn="r">
                        <a:buNone/>
                      </a:pPr>
                      <a:r>
                        <a:rPr sz="1400">
                          <a:solidFill>
                            <a:srgbClr val="1F2933"/>
                          </a:solidFill>
                        </a:rPr>
                        <a:t>521,949</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c>
                  <a:txBody>
                    <a:bodyPr/>
                    <a:lstStyle/>
                    <a:p>
                      <a:pPr marL="0" indent="0" algn="r">
                        <a:buNone/>
                      </a:pPr>
                      <a:r>
                        <a:rPr sz="1400">
                          <a:solidFill>
                            <a:srgbClr val="1F2933"/>
                          </a:solidFill>
                        </a:rPr>
                        <a:t>+12.2%</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r>
              <a:tr h="393192">
                <a:tc>
                  <a:txBody>
                    <a:bodyPr/>
                    <a:lstStyle/>
                    <a:p>
                      <a:pPr marL="0" indent="0" algn="l">
                        <a:buNone/>
                      </a:pPr>
                      <a:r>
                        <a:rPr sz="1400" b="1">
                          <a:solidFill>
                            <a:srgbClr val="1F2933"/>
                          </a:solidFill>
                        </a:rPr>
                        <a:t>55-59</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3E9CC"/>
                    </a:solidFill>
                  </a:tcPr>
                </a:tc>
                <a:tc>
                  <a:txBody>
                    <a:bodyPr/>
                    <a:lstStyle/>
                    <a:p>
                      <a:pPr marL="0" indent="0" algn="r">
                        <a:buNone/>
                      </a:pPr>
                      <a:r>
                        <a:rPr sz="1400" b="1">
                          <a:solidFill>
                            <a:srgbClr val="1F2933"/>
                          </a:solidFill>
                        </a:rPr>
                        <a:t>220</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3E9CC"/>
                    </a:solidFill>
                  </a:tcPr>
                </a:tc>
                <a:tc>
                  <a:txBody>
                    <a:bodyPr/>
                    <a:lstStyle/>
                    <a:p>
                      <a:pPr marL="0" indent="0" algn="r">
                        <a:buNone/>
                      </a:pPr>
                      <a:r>
                        <a:rPr sz="1400" b="1">
                          <a:solidFill>
                            <a:srgbClr val="1F2933"/>
                          </a:solidFill>
                        </a:rPr>
                        <a:t>523,751</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3E9CC"/>
                    </a:solidFill>
                  </a:tcPr>
                </a:tc>
                <a:tc>
                  <a:txBody>
                    <a:bodyPr/>
                    <a:lstStyle/>
                    <a:p>
                      <a:pPr marL="0" indent="0" algn="r">
                        <a:buNone/>
                      </a:pPr>
                      <a:r>
                        <a:rPr sz="1400" b="1">
                          <a:solidFill>
                            <a:srgbClr val="1F2933"/>
                          </a:solidFill>
                        </a:rPr>
                        <a:t>+0.3%</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3E9CC"/>
                    </a:solidFill>
                  </a:tcPr>
                </a:tc>
              </a:tr>
              <a:tr h="393192">
                <a:tc>
                  <a:txBody>
                    <a:bodyPr/>
                    <a:lstStyle/>
                    <a:p>
                      <a:pPr marL="0" indent="0" algn="l">
                        <a:buNone/>
                      </a:pPr>
                      <a:r>
                        <a:rPr sz="1400">
                          <a:solidFill>
                            <a:srgbClr val="1F2933"/>
                          </a:solidFill>
                        </a:rPr>
                        <a:t>60-64</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c>
                  <a:txBody>
                    <a:bodyPr/>
                    <a:lstStyle/>
                    <a:p>
                      <a:pPr marL="0" indent="0" algn="r">
                        <a:buNone/>
                      </a:pPr>
                      <a:r>
                        <a:rPr sz="1400">
                          <a:solidFill>
                            <a:srgbClr val="1F2933"/>
                          </a:solidFill>
                        </a:rPr>
                        <a:t>130</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c>
                  <a:txBody>
                    <a:bodyPr/>
                    <a:lstStyle/>
                    <a:p>
                      <a:pPr marL="0" indent="0" algn="r">
                        <a:buNone/>
                      </a:pPr>
                      <a:r>
                        <a:rPr sz="1400">
                          <a:solidFill>
                            <a:srgbClr val="1F2933"/>
                          </a:solidFill>
                        </a:rPr>
                        <a:t>453,067</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c>
                  <a:txBody>
                    <a:bodyPr/>
                    <a:lstStyle/>
                    <a:p>
                      <a:pPr marL="0" indent="0" algn="r">
                        <a:buNone/>
                      </a:pPr>
                      <a:r>
                        <a:rPr sz="1400">
                          <a:solidFill>
                            <a:srgbClr val="1F2933"/>
                          </a:solidFill>
                        </a:rPr>
                        <a:t>-13.5%</a:t>
                      </a:r>
                      <a:endParaRPr sz="1400"/>
                    </a:p>
                  </a:txBody>
                  <a:tcPr marL="109728" marR="109728"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r>
            </a:tbl>
          </a:graphicData>
        </a:graphic>
      </p:graphicFrame>
      <p:sp>
        <p:nvSpPr>
          <p:cNvPr id="4" name="Threshold panel">
            <a:extLst>
              <a:ext uri="{FF2B5EF4-FFF2-40B4-BE49-F238E27FC236}">
                <a16:creationId xmlns:a16="http://schemas.microsoft.com/office/drawing/2014/main" xmlns="" id="{CE2DB015-A206-44FF-B2FA-9A18F62CDAA8}"/>
              </a:ext>
            </a:extLst>
          </p:cNvPr>
          <p:cNvSpPr>
            <a:spLocks noGrp="1"/>
          </p:cNvSpPr>
          <p:nvPr/>
        </p:nvSpPr>
        <p:spPr>
          <a:xfrm>
            <a:off x="8412480" y="1508760"/>
            <a:ext cx="3227832" cy="4325112"/>
          </a:xfrm>
          <a:prstGeom prst="rect">
            <a:avLst/>
          </a:prstGeom>
          <a:solidFill>
            <a:schemeClr val="bg2"/>
          </a:solidFill>
          <a:ln w="9525">
            <a:solidFill>
              <a:srgbClr val="D5DDD8"/>
            </a:solidFill>
            <a:prstDash val="solid"/>
          </a:ln>
        </p:spPr>
      </p:sp>
      <p:sp>
        <p:nvSpPr>
          <p:cNvPr id="5" name="Text 2">
            <a:extLst>
              <a:ext uri="{FF2B5EF4-FFF2-40B4-BE49-F238E27FC236}">
                <a16:creationId xmlns:a16="http://schemas.microsoft.com/office/drawing/2014/main" xmlns="" id="{210807F7-E16B-4FC0-8496-3165CEA435C4}"/>
              </a:ext>
            </a:extLst>
          </p:cNvPr>
          <p:cNvSpPr>
            <a:spLocks noGrp="1"/>
          </p:cNvSpPr>
          <p:nvPr/>
        </p:nvSpPr>
        <p:spPr>
          <a:xfrm>
            <a:off x="8641080" y="1691640"/>
            <a:ext cx="2743200" cy="365760"/>
          </a:xfrm>
          <a:prstGeom prst="rect">
            <a:avLst/>
          </a:prstGeom>
          <a:noFill/>
        </p:spPr>
        <p:txBody>
          <a:bodyPr wrap="square" lIns="0" tIns="0" rIns="0" bIns="0" anchor="ctr"/>
          <a:lstStyle/>
          <a:p>
            <a:pPr marL="0" indent="0">
              <a:buNone/>
            </a:pPr>
            <a:r>
              <a:rPr sz="1800" b="1">
                <a:solidFill>
                  <a:schemeClr val="tx2"/>
                </a:solidFill>
                <a:latin typeface="Cambria"/>
                <a:ea typeface="Cambria"/>
                <a:cs typeface="Cambria"/>
              </a:rPr>
              <a:t>Reliability check</a:t>
            </a:r>
            <a:endParaRPr sz="1800"/>
          </a:p>
        </p:txBody>
      </p:sp>
      <p:sp>
        <p:nvSpPr>
          <p:cNvPr id="6" name="Text 3">
            <a:extLst>
              <a:ext uri="{FF2B5EF4-FFF2-40B4-BE49-F238E27FC236}">
                <a16:creationId xmlns:a16="http://schemas.microsoft.com/office/drawing/2014/main" xmlns="" id="{506D6D8A-EF21-4220-9F81-22B5ABC3BD3B}"/>
              </a:ext>
            </a:extLst>
          </p:cNvPr>
          <p:cNvSpPr>
            <a:spLocks noGrp="1"/>
          </p:cNvSpPr>
          <p:nvPr/>
        </p:nvSpPr>
        <p:spPr>
          <a:xfrm>
            <a:off x="8641080" y="2194560"/>
            <a:ext cx="2743200" cy="3474720"/>
          </a:xfrm>
          <a:prstGeom prst="rect">
            <a:avLst/>
          </a:prstGeom>
          <a:noFill/>
        </p:spPr>
        <p:txBody>
          <a:bodyPr wrap="square" lIns="0" tIns="0" rIns="0" bIns="0" anchor="t"/>
          <a:lstStyle/>
          <a:p>
            <a:pPr marL="0" indent="0">
              <a:spcAft>
                <a:spcPts val="1000"/>
              </a:spcAft>
              <a:buNone/>
            </a:pPr>
            <a:r>
              <a:rPr sz="1400">
                <a:solidFill>
                  <a:schemeClr val="tx1"/>
                </a:solidFill>
              </a:rPr>
              <a:t>A band is flagged as thin when it holds fewer than 30 earners.</a:t>
            </a:r>
            <a:endParaRPr sz="1400"/>
          </a:p>
          <a:p>
            <a:pPr marL="0" indent="0">
              <a:spcAft>
                <a:spcPts val="1000"/>
              </a:spcAft>
              <a:buNone/>
            </a:pPr>
            <a:r>
              <a:rPr sz="1400">
                <a:solidFill>
                  <a:schemeClr val="tx1"/>
                </a:solidFill>
              </a:rPr>
              <a:t>In this variant no band is thin; the smallest, ages 60 to 64, holds 130.</a:t>
            </a:r>
            <a:endParaRPr sz="1400"/>
          </a:p>
          <a:p>
            <a:pPr marL="0" indent="0">
              <a:spcAft>
                <a:spcPts val="1000"/>
              </a:spcAft>
              <a:buNone/>
            </a:pPr>
            <a:r>
              <a:rPr sz="1400">
                <a:solidFill>
                  <a:schemeClr val="tx1"/>
                </a:solidFill>
              </a:rPr>
              <a:t>The peak band (highlighted) differs from the previous band by only 0.3%.</a:t>
            </a:r>
            <a:endParaRPr sz="1400"/>
          </a:p>
        </p:txBody>
      </p:sp>
      <p:sp>
        <p:nvSpPr>
          <p:cNvPr id="25" name="Slide Number Placeholder 0">
            <a:extLst>
              <a:ext uri="{FF2B5EF4-FFF2-40B4-BE49-F238E27FC236}">
                <a16:creationId xmlns:a16="http://schemas.microsoft.com/office/drawing/2014/main" xmlns="" id="{4B541A3D-254E-40B6-90EC-14540470DAD1}"/>
              </a:ext>
            </a:extLst>
          </p:cNvPr>
          <p:cNvSpPr>
            <a:spLocks noGrp="1"/>
          </p:cNvSpPr>
          <p:nvPr>
            <p:ph type="sldNum" idx="4294967295"/>
          </p:nvPr>
        </p:nvSpPr>
        <p:spPr>
          <a:xfrm>
            <a:off x="11091672" y="6355080"/>
            <a:ext cx="548640" cy="274320"/>
          </a:xfrm>
          <a:prstGeom prst="rect">
            <a:avLst/>
          </a:prstGeom>
        </p:spPr>
        <p:txBody>
          <a:bodyPr lIns="0" tIns="0" rIns="0" bIns="0"/>
          <a:lstStyle>
            <a:lvl1pPr>
              <a:buNone/>
              <a:defRPr sz="1000">
                <a:solidFill>
                  <a:srgbClr val="8A9A91"/>
                </a:solidFill>
              </a:defRPr>
            </a:lvl1pPr>
          </a:lstStyle>
          <a:p>
            <a:pPr algn="r">
              <a:buNone/>
            </a:pPr>
            <a:fld id="{F7021451-1387-4CA6-816F-3879F97B5CBC}" type="slidenum">
              <a:rPr b="0"/>
              <a:t>7</a:t>
            </a:fld>
            <a:endParaRPr/>
          </a:p>
        </p:txBody>
      </p:sp>
    </p:spTree>
    <p:extLst>
      <p:ext uri="{BB962C8B-B14F-4D97-AF65-F5344CB8AC3E}">
        <p14:creationId xmlns:p14="http://schemas.microsoft.com/office/powerpoint/2010/main" val="12753007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a:extLst>
              <a:ext uri="{FF2B5EF4-FFF2-40B4-BE49-F238E27FC236}">
                <a16:creationId xmlns:a16="http://schemas.microsoft.com/office/drawing/2014/main" xmlns="" id="{0323CA8F-3CB6-45A5-8FF0-EFC2D4067A5E}"/>
              </a:ext>
            </a:extLst>
          </p:cNvPr>
          <p:cNvSpPr>
            <a:spLocks noGrp="1"/>
          </p:cNvSpPr>
          <p:nvPr>
            <p:ph type="title" idx="101"/>
          </p:nvPr>
        </p:nvSpPr>
        <p:spPr>
          <a:xfrm>
            <a:off x="548640" y="365760"/>
            <a:ext cx="11091672" cy="914400"/>
          </a:xfrm>
          <a:prstGeom prst="rect">
            <a:avLst/>
          </a:prstGeom>
          <a:noFill/>
        </p:spPr>
        <p:txBody>
          <a:bodyPr wrap="square" lIns="0" tIns="0" rIns="0" bIns="0" anchor="t"/>
          <a:lstStyle/>
          <a:p>
            <a:pPr marL="0" indent="0" algn="l">
              <a:buNone/>
            </a:pPr>
            <a:r>
              <a:rPr sz="3000" b="1">
                <a:solidFill>
                  <a:schemeClr val="tx2"/>
                </a:solidFill>
                <a:latin typeface="Cambria"/>
                <a:ea typeface="Cambria"/>
                <a:cs typeface="Cambria"/>
              </a:rPr>
              <a:t>Method: survey weights and deliberate design choices</a:t>
            </a:r>
            <a:endParaRPr sz="3000"/>
          </a:p>
        </p:txBody>
      </p:sp>
      <p:graphicFrame>
        <p:nvGraphicFramePr>
          <p:cNvPr id="28" name="Table 0"/>
          <p:cNvGraphicFramePr/>
          <p:nvPr/>
        </p:nvGraphicFramePr>
        <p:xfrm>
          <a:off x="548640" y="1508760"/>
          <a:ext cx="11091672" cy="4206240"/>
        </p:xfrm>
        <a:graphic>
          <a:graphicData uri="http://schemas.openxmlformats.org/drawingml/2006/table">
            <a:tbl>
              <a:tblPr/>
              <a:tblGrid>
                <a:gridCol w="2651760"/>
                <a:gridCol w="4572000"/>
                <a:gridCol w="3867912"/>
              </a:tblGrid>
              <a:tr h="457200">
                <a:tc>
                  <a:txBody>
                    <a:bodyPr/>
                    <a:lstStyle/>
                    <a:p>
                      <a:pPr marL="0" indent="0">
                        <a:buNone/>
                      </a:pPr>
                      <a:r>
                        <a:rPr sz="1400" b="1">
                          <a:solidFill>
                            <a:srgbClr val="FFFFFF"/>
                          </a:solidFill>
                        </a:rPr>
                        <a:t>Element</a:t>
                      </a:r>
                      <a:endParaRPr sz="1400"/>
                    </a:p>
                  </a:txBody>
                  <a:tcPr marL="137160" marR="137160"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0B3D2E"/>
                    </a:solidFill>
                  </a:tcPr>
                </a:tc>
                <a:tc>
                  <a:txBody>
                    <a:bodyPr/>
                    <a:lstStyle/>
                    <a:p>
                      <a:pPr marL="0" indent="0">
                        <a:buNone/>
                      </a:pPr>
                      <a:r>
                        <a:rPr sz="1400" b="1">
                          <a:solidFill>
                            <a:srgbClr val="FFFFFF"/>
                          </a:solidFill>
                        </a:rPr>
                        <a:t>Approach</a:t>
                      </a:r>
                      <a:endParaRPr sz="1400"/>
                    </a:p>
                  </a:txBody>
                  <a:tcPr marL="137160" marR="137160"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0B3D2E"/>
                    </a:solidFill>
                  </a:tcPr>
                </a:tc>
                <a:tc>
                  <a:txBody>
                    <a:bodyPr/>
                    <a:lstStyle/>
                    <a:p>
                      <a:pPr marL="0" indent="0">
                        <a:buNone/>
                      </a:pPr>
                      <a:r>
                        <a:rPr sz="1400" b="1">
                          <a:solidFill>
                            <a:srgbClr val="FFFFFF"/>
                          </a:solidFill>
                        </a:rPr>
                        <a:t>Rationale</a:t>
                      </a:r>
                      <a:endParaRPr sz="1400"/>
                    </a:p>
                  </a:txBody>
                  <a:tcPr marL="137160" marR="137160"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0B3D2E"/>
                    </a:solidFill>
                  </a:tcPr>
                </a:tc>
              </a:tr>
              <a:tr h="749808">
                <a:tc>
                  <a:txBody>
                    <a:bodyPr/>
                    <a:lstStyle/>
                    <a:p>
                      <a:pPr marL="0" indent="0">
                        <a:buNone/>
                      </a:pPr>
                      <a:r>
                        <a:rPr sz="1400" b="1">
                          <a:solidFill>
                            <a:srgbClr val="1F2933"/>
                          </a:solidFill>
                        </a:rPr>
                        <a:t>Weighted quantiles</a:t>
                      </a:r>
                      <a:endParaRPr sz="1400"/>
                    </a:p>
                  </a:txBody>
                  <a:tcPr marL="137160" marR="137160"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c>
                  <a:txBody>
                    <a:bodyPr/>
                    <a:lstStyle/>
                    <a:p>
                      <a:pPr marL="0" indent="0">
                        <a:buNone/>
                      </a:pPr>
                      <a:r>
                        <a:rPr sz="1400">
                          <a:solidFill>
                            <a:srgbClr val="1F2933"/>
                          </a:solidFill>
                        </a:rPr>
                        <a:t>Cumulative weight share; smallest value reaching p</a:t>
                      </a:r>
                      <a:endParaRPr sz="1400"/>
                    </a:p>
                  </a:txBody>
                  <a:tcPr marL="137160" marR="137160"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c>
                  <a:txBody>
                    <a:bodyPr/>
                    <a:lstStyle/>
                    <a:p>
                      <a:pPr marL="0" indent="0">
                        <a:buNone/>
                      </a:pPr>
                      <a:r>
                        <a:rPr sz="1400">
                          <a:solidFill>
                            <a:srgbClr val="1F2933"/>
                          </a:solidFill>
                        </a:rPr>
                        <a:t>Respects survey design; built-in quantile() not used</a:t>
                      </a:r>
                      <a:endParaRPr sz="1400"/>
                    </a:p>
                  </a:txBody>
                  <a:tcPr marL="137160" marR="137160"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r>
              <a:tr h="749808">
                <a:tc>
                  <a:txBody>
                    <a:bodyPr/>
                    <a:lstStyle/>
                    <a:p>
                      <a:pPr marL="0" indent="0">
                        <a:buNone/>
                      </a:pPr>
                      <a:r>
                        <a:rPr sz="1400" b="1">
                          <a:solidFill>
                            <a:srgbClr val="1F2933"/>
                          </a:solidFill>
                        </a:rPr>
                        <a:t>Weighted band mean</a:t>
                      </a:r>
                      <a:endParaRPr sz="1400"/>
                    </a:p>
                  </a:txBody>
                  <a:tcPr marL="137160" marR="137160"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c>
                  <a:txBody>
                    <a:bodyPr/>
                    <a:lstStyle/>
                    <a:p>
                      <a:pPr marL="0" indent="0">
                        <a:buNone/>
                      </a:pPr>
                      <a:r>
                        <a:rPr sz="1400">
                          <a:solidFill>
                            <a:srgbClr val="1F2933"/>
                          </a:solidFill>
                        </a:rPr>
                        <a:t>Sum of weight times earnings over sum of weights</a:t>
                      </a:r>
                      <a:endParaRPr sz="1400"/>
                    </a:p>
                  </a:txBody>
                  <a:tcPr marL="137160" marR="137160"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c>
                  <a:txBody>
                    <a:bodyPr/>
                    <a:lstStyle/>
                    <a:p>
                      <a:pPr marL="0" indent="0">
                        <a:buNone/>
                      </a:pPr>
                      <a:r>
                        <a:rPr sz="1400">
                          <a:solidFill>
                            <a:srgbClr val="1F2933"/>
                          </a:solidFill>
                        </a:rPr>
                        <a:t>Unbiased for the weighted population</a:t>
                      </a:r>
                      <a:endParaRPr sz="1400"/>
                    </a:p>
                  </a:txBody>
                  <a:tcPr marL="137160" marR="137160"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r>
              <a:tr h="749808">
                <a:tc>
                  <a:txBody>
                    <a:bodyPr/>
                    <a:lstStyle/>
                    <a:p>
                      <a:pPr marL="0" indent="0">
                        <a:buNone/>
                      </a:pPr>
                      <a:r>
                        <a:rPr sz="1400" b="1">
                          <a:solidFill>
                            <a:srgbClr val="1F2933"/>
                          </a:solidFill>
                        </a:rPr>
                        <a:t>Log axis, rupee labels</a:t>
                      </a:r>
                      <a:endParaRPr sz="1400"/>
                    </a:p>
                  </a:txBody>
                  <a:tcPr marL="137160" marR="137160"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c>
                  <a:txBody>
                    <a:bodyPr/>
                    <a:lstStyle/>
                    <a:p>
                      <a:pPr marL="0" indent="0">
                        <a:buNone/>
                      </a:pPr>
                      <a:r>
                        <a:rPr sz="1400">
                          <a:solidFill>
                            <a:srgbClr val="1F2933"/>
                          </a:solidFill>
                        </a:rPr>
                        <a:t>Log10 scale with Rs 10,000 to Rs 10,000,000</a:t>
                      </a:r>
                      <a:endParaRPr sz="1400"/>
                    </a:p>
                  </a:txBody>
                  <a:tcPr marL="137160" marR="137160"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c>
                  <a:txBody>
                    <a:bodyPr/>
                    <a:lstStyle/>
                    <a:p>
                      <a:pPr marL="0" indent="0">
                        <a:buNone/>
                      </a:pPr>
                      <a:r>
                        <a:rPr sz="1400">
                          <a:solidFill>
                            <a:srgbClr val="1F2933"/>
                          </a:solidFill>
                        </a:rPr>
                        <a:t>Earnings are heavily right-skewed</a:t>
                      </a:r>
                      <a:endParaRPr sz="1400"/>
                    </a:p>
                  </a:txBody>
                  <a:tcPr marL="137160" marR="137160"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r>
              <a:tr h="749808">
                <a:tc>
                  <a:txBody>
                    <a:bodyPr/>
                    <a:lstStyle/>
                    <a:p>
                      <a:pPr marL="0" indent="0">
                        <a:buNone/>
                      </a:pPr>
                      <a:r>
                        <a:rPr sz="1400" b="1">
                          <a:solidFill>
                            <a:srgbClr val="1F2933"/>
                          </a:solidFill>
                        </a:rPr>
                        <a:t>Jittered, faint points</a:t>
                      </a:r>
                      <a:endParaRPr sz="1400"/>
                    </a:p>
                  </a:txBody>
                  <a:tcPr marL="137160" marR="137160"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c>
                  <a:txBody>
                    <a:bodyPr/>
                    <a:lstStyle/>
                    <a:p>
                      <a:pPr marL="0" indent="0">
                        <a:buNone/>
                      </a:pPr>
                      <a:r>
                        <a:rPr sz="1400">
                          <a:solidFill>
                            <a:srgbClr val="1F2933"/>
                          </a:solidFill>
                        </a:rPr>
                        <a:t>Fixed seed 346; sideways shift of at most 0.4 years</a:t>
                      </a:r>
                      <a:endParaRPr sz="1400"/>
                    </a:p>
                  </a:txBody>
                  <a:tcPr marL="137160" marR="137160"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c>
                  <a:txBody>
                    <a:bodyPr/>
                    <a:lstStyle/>
                    <a:p>
                      <a:pPr marL="0" indent="0">
                        <a:buNone/>
                      </a:pPr>
                      <a:r>
                        <a:rPr sz="1400">
                          <a:solidFill>
                            <a:srgbClr val="1F2933"/>
                          </a:solidFill>
                        </a:rPr>
                        <a:t>Reduces overplotting; fully reproducible</a:t>
                      </a:r>
                      <a:endParaRPr sz="1400"/>
                    </a:p>
                  </a:txBody>
                  <a:tcPr marL="137160" marR="137160"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1F4F2"/>
                    </a:solidFill>
                  </a:tcPr>
                </a:tc>
              </a:tr>
              <a:tr h="749808">
                <a:tc>
                  <a:txBody>
                    <a:bodyPr/>
                    <a:lstStyle/>
                    <a:p>
                      <a:pPr marL="0" indent="0">
                        <a:buNone/>
                      </a:pPr>
                      <a:r>
                        <a:rPr sz="1400" b="1">
                          <a:solidFill>
                            <a:srgbClr val="1F2933"/>
                          </a:solidFill>
                        </a:rPr>
                        <a:t>Direct label and caption</a:t>
                      </a:r>
                      <a:endParaRPr sz="1400"/>
                    </a:p>
                  </a:txBody>
                  <a:tcPr marL="137160" marR="137160"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c>
                  <a:txBody>
                    <a:bodyPr/>
                    <a:lstStyle/>
                    <a:p>
                      <a:pPr marL="0" indent="0">
                        <a:buNone/>
                      </a:pPr>
                      <a:r>
                        <a:rPr sz="1400">
                          <a:solidFill>
                            <a:srgbClr val="1F2933"/>
                          </a:solidFill>
                        </a:rPr>
                        <a:t>Peak band labelled; sample and exclusions stated</a:t>
                      </a:r>
                      <a:endParaRPr sz="1400"/>
                    </a:p>
                  </a:txBody>
                  <a:tcPr marL="137160" marR="137160"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c>
                  <a:txBody>
                    <a:bodyPr/>
                    <a:lstStyle/>
                    <a:p>
                      <a:pPr marL="0" indent="0">
                        <a:buNone/>
                      </a:pPr>
                      <a:r>
                        <a:rPr sz="1400">
                          <a:solidFill>
                            <a:srgbClr val="1F2933"/>
                          </a:solidFill>
                        </a:rPr>
                        <a:t>States the message instead of leaving inference</a:t>
                      </a:r>
                      <a:endParaRPr sz="1400"/>
                    </a:p>
                  </a:txBody>
                  <a:tcPr marL="137160" marR="137160" marT="0" marB="0" anchor="ctr">
                    <a:lnL w="9525" cmpd="sng">
                      <a:solidFill>
                        <a:srgbClr val="D5DDD8"/>
                      </a:solidFill>
                      <a:prstDash val="solid"/>
                    </a:lnL>
                    <a:lnR w="9525" cmpd="sng">
                      <a:solidFill>
                        <a:srgbClr val="D5DDD8"/>
                      </a:solidFill>
                      <a:prstDash val="solid"/>
                    </a:lnR>
                    <a:lnT w="9525" cmpd="sng">
                      <a:solidFill>
                        <a:srgbClr val="D5DDD8"/>
                      </a:solidFill>
                      <a:prstDash val="solid"/>
                    </a:lnT>
                    <a:lnB w="9525" cmpd="sng">
                      <a:solidFill>
                        <a:srgbClr val="D5DDD8"/>
                      </a:solidFill>
                      <a:prstDash val="solid"/>
                    </a:lnB>
                    <a:solidFill>
                      <a:srgbClr val="FFFFFF"/>
                    </a:solidFill>
                  </a:tcPr>
                </a:tc>
              </a:tr>
            </a:tbl>
          </a:graphicData>
        </a:graphic>
      </p:graphicFrame>
      <p:sp>
        <p:nvSpPr>
          <p:cNvPr id="25" name="Slide Number Placeholder 0">
            <a:extLst>
              <a:ext uri="{FF2B5EF4-FFF2-40B4-BE49-F238E27FC236}">
                <a16:creationId xmlns:a16="http://schemas.microsoft.com/office/drawing/2014/main" xmlns="" id="{23D0AEDF-8F0E-428D-9C17-537FC611E318}"/>
              </a:ext>
            </a:extLst>
          </p:cNvPr>
          <p:cNvSpPr>
            <a:spLocks noGrp="1"/>
          </p:cNvSpPr>
          <p:nvPr>
            <p:ph type="sldNum" idx="4294967295"/>
          </p:nvPr>
        </p:nvSpPr>
        <p:spPr>
          <a:xfrm>
            <a:off x="11091672" y="6355080"/>
            <a:ext cx="548640" cy="274320"/>
          </a:xfrm>
          <a:prstGeom prst="rect">
            <a:avLst/>
          </a:prstGeom>
        </p:spPr>
        <p:txBody>
          <a:bodyPr lIns="0" tIns="0" rIns="0" bIns="0"/>
          <a:lstStyle>
            <a:lvl1pPr>
              <a:buNone/>
              <a:defRPr sz="1000">
                <a:solidFill>
                  <a:srgbClr val="8A9A91"/>
                </a:solidFill>
              </a:defRPr>
            </a:lvl1pPr>
          </a:lstStyle>
          <a:p>
            <a:pPr algn="r">
              <a:buNone/>
            </a:pPr>
            <a:fld id="{F7021451-1387-4CA6-816F-3879F97B5CBC}" type="slidenum">
              <a:rPr b="0"/>
              <a:t>8</a:t>
            </a:fld>
            <a:endParaRPr/>
          </a:p>
        </p:txBody>
      </p:sp>
    </p:spTree>
    <p:extLst>
      <p:ext uri="{BB962C8B-B14F-4D97-AF65-F5344CB8AC3E}">
        <p14:creationId xmlns:p14="http://schemas.microsoft.com/office/powerpoint/2010/main" val="16197409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a:extLst>
              <a:ext uri="{FF2B5EF4-FFF2-40B4-BE49-F238E27FC236}">
                <a16:creationId xmlns:a16="http://schemas.microsoft.com/office/drawing/2014/main" xmlns="" id="{693C623C-AA9B-4D5E-A8C6-C8626A0FA34E}"/>
              </a:ext>
            </a:extLst>
          </p:cNvPr>
          <p:cNvSpPr>
            <a:spLocks noGrp="1"/>
          </p:cNvSpPr>
          <p:nvPr>
            <p:ph type="title" idx="101"/>
          </p:nvPr>
        </p:nvSpPr>
        <p:spPr>
          <a:xfrm>
            <a:off x="548640" y="365760"/>
            <a:ext cx="11091672" cy="914400"/>
          </a:xfrm>
          <a:prstGeom prst="rect">
            <a:avLst/>
          </a:prstGeom>
          <a:noFill/>
        </p:spPr>
        <p:txBody>
          <a:bodyPr wrap="square" lIns="0" tIns="0" rIns="0" bIns="0" anchor="t"/>
          <a:lstStyle/>
          <a:p>
            <a:pPr marL="0" indent="0" algn="l">
              <a:buNone/>
            </a:pPr>
            <a:r>
              <a:rPr sz="3000" b="1">
                <a:solidFill>
                  <a:schemeClr val="tx2"/>
                </a:solidFill>
                <a:latin typeface="Cambria"/>
                <a:ea typeface="Cambria"/>
                <a:cs typeface="Cambria"/>
              </a:rPr>
              <a:t>Validation: the results are identical in R and Python, to the rupee</a:t>
            </a:r>
            <a:endParaRPr sz="3000"/>
          </a:p>
        </p:txBody>
      </p:sp>
      <p:sp>
        <p:nvSpPr>
          <p:cNvPr id="3" name="Language card 1">
            <a:extLst>
              <a:ext uri="{FF2B5EF4-FFF2-40B4-BE49-F238E27FC236}">
                <a16:creationId xmlns:a16="http://schemas.microsoft.com/office/drawing/2014/main" xmlns="" id="{67B31245-5F91-427A-8B7E-36013B73A79E}"/>
              </a:ext>
            </a:extLst>
          </p:cNvPr>
          <p:cNvSpPr>
            <a:spLocks noGrp="1"/>
          </p:cNvSpPr>
          <p:nvPr/>
        </p:nvSpPr>
        <p:spPr>
          <a:xfrm>
            <a:off x="548640" y="1600200"/>
            <a:ext cx="3657600" cy="3383280"/>
          </a:xfrm>
          <a:prstGeom prst="rect">
            <a:avLst/>
          </a:prstGeom>
          <a:solidFill>
            <a:schemeClr val="bg2"/>
          </a:solidFill>
          <a:ln w="9525">
            <a:solidFill>
              <a:srgbClr val="D5DDD8"/>
            </a:solidFill>
            <a:prstDash val="solid"/>
          </a:ln>
        </p:spPr>
      </p:sp>
      <p:sp>
        <p:nvSpPr>
          <p:cNvPr id="4" name="Text 2">
            <a:extLst>
              <a:ext uri="{FF2B5EF4-FFF2-40B4-BE49-F238E27FC236}">
                <a16:creationId xmlns:a16="http://schemas.microsoft.com/office/drawing/2014/main" xmlns="" id="{B17298D9-29C0-4C99-BA60-04AB6447A704}"/>
              </a:ext>
            </a:extLst>
          </p:cNvPr>
          <p:cNvSpPr>
            <a:spLocks noGrp="1"/>
          </p:cNvSpPr>
          <p:nvPr/>
        </p:nvSpPr>
        <p:spPr>
          <a:xfrm>
            <a:off x="822960" y="1783080"/>
            <a:ext cx="3108960" cy="548640"/>
          </a:xfrm>
          <a:prstGeom prst="rect">
            <a:avLst/>
          </a:prstGeom>
          <a:noFill/>
        </p:spPr>
        <p:txBody>
          <a:bodyPr wrap="square" lIns="0" tIns="0" rIns="0" bIns="0" anchor="ctr"/>
          <a:lstStyle/>
          <a:p>
            <a:pPr marL="0" indent="0">
              <a:buNone/>
            </a:pPr>
            <a:r>
              <a:rPr sz="2800" b="1">
                <a:solidFill>
                  <a:schemeClr val="tx2"/>
                </a:solidFill>
                <a:latin typeface="Cambria"/>
                <a:ea typeface="Cambria"/>
                <a:cs typeface="Cambria"/>
              </a:rPr>
              <a:t>R</a:t>
            </a:r>
            <a:endParaRPr sz="2800"/>
          </a:p>
        </p:txBody>
      </p:sp>
      <p:sp>
        <p:nvSpPr>
          <p:cNvPr id="5" name="Text 3">
            <a:extLst>
              <a:ext uri="{FF2B5EF4-FFF2-40B4-BE49-F238E27FC236}">
                <a16:creationId xmlns:a16="http://schemas.microsoft.com/office/drawing/2014/main" xmlns="" id="{0431956E-1C50-40E9-8B24-A86BF4A37FE9}"/>
              </a:ext>
            </a:extLst>
          </p:cNvPr>
          <p:cNvSpPr>
            <a:spLocks noGrp="1"/>
          </p:cNvSpPr>
          <p:nvPr/>
        </p:nvSpPr>
        <p:spPr>
          <a:xfrm>
            <a:off x="822960" y="2331720"/>
            <a:ext cx="3108960" cy="365760"/>
          </a:xfrm>
          <a:prstGeom prst="rect">
            <a:avLst/>
          </a:prstGeom>
          <a:noFill/>
        </p:spPr>
        <p:txBody>
          <a:bodyPr wrap="square" lIns="0" tIns="0" rIns="0" bIns="0" anchor="ctr"/>
          <a:lstStyle/>
          <a:p>
            <a:pPr marL="0" indent="0">
              <a:buNone/>
            </a:pPr>
            <a:r>
              <a:rPr sz="1400" b="1">
                <a:solidFill>
                  <a:schemeClr val="accent3"/>
                </a:solidFill>
              </a:rPr>
              <a:t>Primary implementation</a:t>
            </a:r>
            <a:endParaRPr sz="1400"/>
          </a:p>
        </p:txBody>
      </p:sp>
      <p:sp>
        <p:nvSpPr>
          <p:cNvPr id="6" name="Text 4">
            <a:extLst>
              <a:ext uri="{FF2B5EF4-FFF2-40B4-BE49-F238E27FC236}">
                <a16:creationId xmlns:a16="http://schemas.microsoft.com/office/drawing/2014/main" xmlns="" id="{B884DCE0-E617-4624-9EA1-49ED8D6EBBC2}"/>
              </a:ext>
            </a:extLst>
          </p:cNvPr>
          <p:cNvSpPr>
            <a:spLocks noGrp="1"/>
          </p:cNvSpPr>
          <p:nvPr/>
        </p:nvSpPr>
        <p:spPr>
          <a:xfrm>
            <a:off x="822960" y="2834640"/>
            <a:ext cx="3108960" cy="2011680"/>
          </a:xfrm>
          <a:prstGeom prst="rect">
            <a:avLst/>
          </a:prstGeom>
          <a:noFill/>
        </p:spPr>
        <p:txBody>
          <a:bodyPr wrap="square" lIns="0" tIns="0" rIns="0" bIns="0" anchor="t"/>
          <a:lstStyle/>
          <a:p>
            <a:pPr marL="342900" indent="-342900">
              <a:spcAft>
                <a:spcPts val="800"/>
              </a:spcAft>
              <a:buSzPct val="100000"/>
              <a:buChar char="•"/>
            </a:pPr>
            <a:r>
              <a:rPr sz="1400">
                <a:solidFill>
                  <a:schemeClr val="tx1"/>
                </a:solidFill>
              </a:rPr>
              <a:t>Packages: readr, dplyr, ggplot2, svglite</a:t>
            </a:r>
            <a:endParaRPr sz="1400"/>
          </a:p>
          <a:p>
            <a:pPr marL="342900" indent="-342900">
              <a:spcAft>
                <a:spcPts val="800"/>
              </a:spcAft>
              <a:buSzPct val="100000"/>
              <a:buChar char="•"/>
            </a:pPr>
            <a:r>
              <a:rPr sz="1400">
                <a:solidFill>
                  <a:schemeClr val="tx1"/>
                </a:solidFill>
              </a:rPr>
              <a:t>Scripts 01 to 03: default plot, distribution, redesign</a:t>
            </a:r>
            <a:endParaRPr sz="1400"/>
          </a:p>
          <a:p>
            <a:pPr marL="342900" indent="-342900">
              <a:spcAft>
                <a:spcPts val="800"/>
              </a:spcAft>
              <a:buSzPct val="100000"/>
              <a:buChar char="•"/>
            </a:pPr>
            <a:r>
              <a:rPr sz="1400">
                <a:solidFill>
                  <a:schemeClr val="tx1"/>
                </a:solidFill>
              </a:rPr>
              <a:t>Outputs: band_table_R.csv and SVG figures</a:t>
            </a:r>
            <a:endParaRPr sz="1400"/>
          </a:p>
        </p:txBody>
      </p:sp>
      <p:sp>
        <p:nvSpPr>
          <p:cNvPr id="7" name="Language card 2">
            <a:extLst>
              <a:ext uri="{FF2B5EF4-FFF2-40B4-BE49-F238E27FC236}">
                <a16:creationId xmlns:a16="http://schemas.microsoft.com/office/drawing/2014/main" xmlns="" id="{8FFC4FCE-A3A6-4386-8DDF-1F4ED7757CC3}"/>
              </a:ext>
            </a:extLst>
          </p:cNvPr>
          <p:cNvSpPr>
            <a:spLocks noGrp="1"/>
          </p:cNvSpPr>
          <p:nvPr/>
        </p:nvSpPr>
        <p:spPr>
          <a:xfrm>
            <a:off x="4480560" y="1600200"/>
            <a:ext cx="3657600" cy="3383280"/>
          </a:xfrm>
          <a:prstGeom prst="rect">
            <a:avLst/>
          </a:prstGeom>
          <a:solidFill>
            <a:schemeClr val="bg2"/>
          </a:solidFill>
          <a:ln w="9525">
            <a:solidFill>
              <a:srgbClr val="D5DDD8"/>
            </a:solidFill>
            <a:prstDash val="solid"/>
          </a:ln>
        </p:spPr>
      </p:sp>
      <p:sp>
        <p:nvSpPr>
          <p:cNvPr id="8" name="Text 6">
            <a:extLst>
              <a:ext uri="{FF2B5EF4-FFF2-40B4-BE49-F238E27FC236}">
                <a16:creationId xmlns:a16="http://schemas.microsoft.com/office/drawing/2014/main" xmlns="" id="{0014B680-2B91-4C27-BB03-1AC9FDD0C78D}"/>
              </a:ext>
            </a:extLst>
          </p:cNvPr>
          <p:cNvSpPr>
            <a:spLocks noGrp="1"/>
          </p:cNvSpPr>
          <p:nvPr/>
        </p:nvSpPr>
        <p:spPr>
          <a:xfrm>
            <a:off x="4754880" y="1783080"/>
            <a:ext cx="3108960" cy="548640"/>
          </a:xfrm>
          <a:prstGeom prst="rect">
            <a:avLst/>
          </a:prstGeom>
          <a:noFill/>
        </p:spPr>
        <p:txBody>
          <a:bodyPr wrap="square" lIns="0" tIns="0" rIns="0" bIns="0" anchor="ctr"/>
          <a:lstStyle/>
          <a:p>
            <a:pPr marL="0" indent="0">
              <a:buNone/>
            </a:pPr>
            <a:r>
              <a:rPr sz="2800" b="1">
                <a:solidFill>
                  <a:schemeClr val="tx2"/>
                </a:solidFill>
                <a:latin typeface="Cambria"/>
                <a:ea typeface="Cambria"/>
                <a:cs typeface="Cambria"/>
              </a:rPr>
              <a:t>Python</a:t>
            </a:r>
            <a:endParaRPr sz="2800"/>
          </a:p>
        </p:txBody>
      </p:sp>
      <p:sp>
        <p:nvSpPr>
          <p:cNvPr id="9" name="Text 7">
            <a:extLst>
              <a:ext uri="{FF2B5EF4-FFF2-40B4-BE49-F238E27FC236}">
                <a16:creationId xmlns:a16="http://schemas.microsoft.com/office/drawing/2014/main" xmlns="" id="{1B4980B6-4B34-4186-8DBC-CF9CFFABAC51}"/>
              </a:ext>
            </a:extLst>
          </p:cNvPr>
          <p:cNvSpPr>
            <a:spLocks noGrp="1"/>
          </p:cNvSpPr>
          <p:nvPr/>
        </p:nvSpPr>
        <p:spPr>
          <a:xfrm>
            <a:off x="4754880" y="2331720"/>
            <a:ext cx="3108960" cy="365760"/>
          </a:xfrm>
          <a:prstGeom prst="rect">
            <a:avLst/>
          </a:prstGeom>
          <a:noFill/>
        </p:spPr>
        <p:txBody>
          <a:bodyPr wrap="square" lIns="0" tIns="0" rIns="0" bIns="0" anchor="ctr"/>
          <a:lstStyle/>
          <a:p>
            <a:pPr marL="0" indent="0">
              <a:buNone/>
            </a:pPr>
            <a:r>
              <a:rPr sz="1400" b="1">
                <a:solidFill>
                  <a:schemeClr val="accent3"/>
                </a:solidFill>
              </a:rPr>
              <a:t>Independent replication</a:t>
            </a:r>
            <a:endParaRPr sz="1400"/>
          </a:p>
        </p:txBody>
      </p:sp>
      <p:sp>
        <p:nvSpPr>
          <p:cNvPr id="10" name="Text 8">
            <a:extLst>
              <a:ext uri="{FF2B5EF4-FFF2-40B4-BE49-F238E27FC236}">
                <a16:creationId xmlns:a16="http://schemas.microsoft.com/office/drawing/2014/main" xmlns="" id="{117656E9-5C38-47FE-BA7D-7B23DCC79B00}"/>
              </a:ext>
            </a:extLst>
          </p:cNvPr>
          <p:cNvSpPr>
            <a:spLocks noGrp="1"/>
          </p:cNvSpPr>
          <p:nvPr/>
        </p:nvSpPr>
        <p:spPr>
          <a:xfrm>
            <a:off x="4754880" y="2834640"/>
            <a:ext cx="3108960" cy="2011680"/>
          </a:xfrm>
          <a:prstGeom prst="rect">
            <a:avLst/>
          </a:prstGeom>
          <a:noFill/>
        </p:spPr>
        <p:txBody>
          <a:bodyPr wrap="square" lIns="0" tIns="0" rIns="0" bIns="0" anchor="t"/>
          <a:lstStyle/>
          <a:p>
            <a:pPr marL="342900" indent="-342900">
              <a:spcAft>
                <a:spcPts val="800"/>
              </a:spcAft>
              <a:buSzPct val="100000"/>
              <a:buChar char="•"/>
            </a:pPr>
            <a:r>
              <a:rPr sz="1400">
                <a:solidFill>
                  <a:schemeClr val="tx1"/>
                </a:solidFill>
              </a:rPr>
              <a:t>Packages: pandas, numpy, matplotlib</a:t>
            </a:r>
            <a:endParaRPr sz="1400"/>
          </a:p>
          <a:p>
            <a:pPr marL="342900" indent="-342900">
              <a:spcAft>
                <a:spcPts val="800"/>
              </a:spcAft>
              <a:buSzPct val="100000"/>
              <a:buChar char="•"/>
            </a:pPr>
            <a:r>
              <a:rPr sz="1400">
                <a:solidFill>
                  <a:schemeClr val="tx1"/>
                </a:solidFill>
              </a:rPr>
              <a:t>Script 04: band table and figure rebuilt</a:t>
            </a:r>
            <a:endParaRPr sz="1400"/>
          </a:p>
          <a:p>
            <a:pPr marL="342900" indent="-342900">
              <a:spcAft>
                <a:spcPts val="800"/>
              </a:spcAft>
              <a:buSzPct val="100000"/>
              <a:buChar char="•"/>
            </a:pPr>
            <a:r>
              <a:rPr sz="1400">
                <a:solidFill>
                  <a:schemeClr val="tx1"/>
                </a:solidFill>
              </a:rPr>
              <a:t>Outputs: band_table_python.csv and SVG figure</a:t>
            </a:r>
            <a:endParaRPr sz="1400"/>
          </a:p>
        </p:txBody>
      </p:sp>
      <p:sp>
        <p:nvSpPr>
          <p:cNvPr id="11" name="Match panel">
            <a:extLst>
              <a:ext uri="{FF2B5EF4-FFF2-40B4-BE49-F238E27FC236}">
                <a16:creationId xmlns:a16="http://schemas.microsoft.com/office/drawing/2014/main" xmlns="" id="{7F8046E4-8E47-4F6F-8555-9ECE840BAE19}"/>
              </a:ext>
            </a:extLst>
          </p:cNvPr>
          <p:cNvSpPr>
            <a:spLocks noGrp="1"/>
          </p:cNvSpPr>
          <p:nvPr/>
        </p:nvSpPr>
        <p:spPr>
          <a:xfrm>
            <a:off x="8412480" y="1600200"/>
            <a:ext cx="3227832" cy="3383280"/>
          </a:xfrm>
          <a:prstGeom prst="rect">
            <a:avLst/>
          </a:prstGeom>
          <a:solidFill>
            <a:schemeClr val="accent1"/>
          </a:solidFill>
          <a:ln w="12700">
            <a:solidFill>
              <a:schemeClr val="accent1"/>
            </a:solidFill>
            <a:prstDash val="solid"/>
          </a:ln>
        </p:spPr>
      </p:sp>
      <p:sp>
        <p:nvSpPr>
          <p:cNvPr id="12" name="Text 10">
            <a:extLst>
              <a:ext uri="{FF2B5EF4-FFF2-40B4-BE49-F238E27FC236}">
                <a16:creationId xmlns:a16="http://schemas.microsoft.com/office/drawing/2014/main" xmlns="" id="{C262AFAB-68AD-4C89-8752-D7EADF26296E}"/>
              </a:ext>
            </a:extLst>
          </p:cNvPr>
          <p:cNvSpPr>
            <a:spLocks noGrp="1"/>
          </p:cNvSpPr>
          <p:nvPr/>
        </p:nvSpPr>
        <p:spPr>
          <a:xfrm>
            <a:off x="8412480" y="1828800"/>
            <a:ext cx="3227832" cy="1005840"/>
          </a:xfrm>
          <a:prstGeom prst="rect">
            <a:avLst/>
          </a:prstGeom>
          <a:noFill/>
        </p:spPr>
        <p:txBody>
          <a:bodyPr wrap="square" lIns="0" tIns="0" rIns="0" bIns="0" anchor="ctr"/>
          <a:lstStyle/>
          <a:p>
            <a:pPr marL="0" indent="0" algn="ctr">
              <a:buNone/>
            </a:pPr>
            <a:r>
              <a:rPr sz="5400" b="1">
                <a:solidFill>
                  <a:schemeClr val="bg1"/>
                </a:solidFill>
                <a:latin typeface="Cambria"/>
                <a:ea typeface="Cambria"/>
                <a:cs typeface="Cambria"/>
              </a:rPr>
              <a:t>10 / 10</a:t>
            </a:r>
            <a:endParaRPr sz="5400"/>
          </a:p>
        </p:txBody>
      </p:sp>
      <p:sp>
        <p:nvSpPr>
          <p:cNvPr id="13" name="Text 11">
            <a:extLst>
              <a:ext uri="{FF2B5EF4-FFF2-40B4-BE49-F238E27FC236}">
                <a16:creationId xmlns:a16="http://schemas.microsoft.com/office/drawing/2014/main" xmlns="" id="{952CF546-8896-417E-82F6-D78AF4630B8E}"/>
              </a:ext>
            </a:extLst>
          </p:cNvPr>
          <p:cNvSpPr>
            <a:spLocks noGrp="1"/>
          </p:cNvSpPr>
          <p:nvPr/>
        </p:nvSpPr>
        <p:spPr>
          <a:xfrm>
            <a:off x="8686800" y="2926080"/>
            <a:ext cx="2679192" cy="731520"/>
          </a:xfrm>
          <a:prstGeom prst="rect">
            <a:avLst/>
          </a:prstGeom>
          <a:noFill/>
        </p:spPr>
        <p:txBody>
          <a:bodyPr wrap="square" lIns="0" tIns="0" rIns="0" bIns="0" anchor="t"/>
          <a:lstStyle/>
          <a:p>
            <a:pPr marL="0" indent="0" algn="ctr">
              <a:buNone/>
            </a:pPr>
            <a:r>
              <a:rPr sz="1600">
                <a:solidFill>
                  <a:schemeClr val="bg1"/>
                </a:solidFill>
              </a:rPr>
              <a:t>age bands match exactly in earners and weighted mean</a:t>
            </a:r>
            <a:endParaRPr sz="1600"/>
          </a:p>
        </p:txBody>
      </p:sp>
      <p:sp>
        <p:nvSpPr>
          <p:cNvPr id="14" name="Text 12">
            <a:extLst>
              <a:ext uri="{FF2B5EF4-FFF2-40B4-BE49-F238E27FC236}">
                <a16:creationId xmlns:a16="http://schemas.microsoft.com/office/drawing/2014/main" xmlns="" id="{B1DD2A22-C8B2-42F7-9409-5256C1A810B6}"/>
              </a:ext>
            </a:extLst>
          </p:cNvPr>
          <p:cNvSpPr>
            <a:spLocks noGrp="1"/>
          </p:cNvSpPr>
          <p:nvPr/>
        </p:nvSpPr>
        <p:spPr>
          <a:xfrm>
            <a:off x="8686800" y="3840480"/>
            <a:ext cx="2679192" cy="822960"/>
          </a:xfrm>
          <a:prstGeom prst="rect">
            <a:avLst/>
          </a:prstGeom>
          <a:noFill/>
        </p:spPr>
        <p:txBody>
          <a:bodyPr wrap="square" lIns="0" tIns="0" rIns="0" bIns="0" anchor="t"/>
          <a:lstStyle/>
          <a:p>
            <a:pPr marL="0" indent="0" algn="ctr">
              <a:buNone/>
            </a:pPr>
            <a:r>
              <a:rPr sz="1200">
                <a:solidFill>
                  <a:srgbClr val="D5DDD8"/>
                </a:solidFill>
              </a:rPr>
              <a:t>Independently re-computed from the raw files for this presentation.</a:t>
            </a:r>
            <a:endParaRPr sz="1200"/>
          </a:p>
        </p:txBody>
      </p:sp>
      <p:sp>
        <p:nvSpPr>
          <p:cNvPr id="15" name="Text 13">
            <a:extLst>
              <a:ext uri="{FF2B5EF4-FFF2-40B4-BE49-F238E27FC236}">
                <a16:creationId xmlns:a16="http://schemas.microsoft.com/office/drawing/2014/main" xmlns="" id="{E4EDD519-3AF5-4D88-AE23-AEA8283C7FBC}"/>
              </a:ext>
            </a:extLst>
          </p:cNvPr>
          <p:cNvSpPr>
            <a:spLocks noGrp="1"/>
          </p:cNvSpPr>
          <p:nvPr/>
        </p:nvSpPr>
        <p:spPr>
          <a:xfrm>
            <a:off x="548640" y="5303520"/>
            <a:ext cx="11091672" cy="548640"/>
          </a:xfrm>
          <a:prstGeom prst="rect">
            <a:avLst/>
          </a:prstGeom>
          <a:noFill/>
        </p:spPr>
        <p:txBody>
          <a:bodyPr wrap="square" lIns="0" tIns="0" rIns="0" bIns="0" anchor="t"/>
          <a:lstStyle/>
          <a:p>
            <a:pPr marL="0" indent="0">
              <a:buNone/>
            </a:pPr>
            <a:r>
              <a:rPr sz="1600">
                <a:solidFill>
                  <a:schemeClr val="tx1"/>
                </a:solidFill>
              </a:rPr>
              <a:t>Remaining differences are cosmetic defaults only (marker edges and log-axis tick labels), set to match R.</a:t>
            </a:r>
            <a:endParaRPr sz="1600"/>
          </a:p>
        </p:txBody>
      </p:sp>
      <p:sp>
        <p:nvSpPr>
          <p:cNvPr id="25" name="Slide Number Placeholder 0">
            <a:extLst>
              <a:ext uri="{FF2B5EF4-FFF2-40B4-BE49-F238E27FC236}">
                <a16:creationId xmlns:a16="http://schemas.microsoft.com/office/drawing/2014/main" xmlns="" id="{2E3C4B4D-5CFE-428E-908B-882DBCF441EB}"/>
              </a:ext>
            </a:extLst>
          </p:cNvPr>
          <p:cNvSpPr>
            <a:spLocks noGrp="1"/>
          </p:cNvSpPr>
          <p:nvPr>
            <p:ph type="sldNum" idx="4294967295"/>
          </p:nvPr>
        </p:nvSpPr>
        <p:spPr>
          <a:xfrm>
            <a:off x="11091672" y="6355080"/>
            <a:ext cx="548640" cy="274320"/>
          </a:xfrm>
          <a:prstGeom prst="rect">
            <a:avLst/>
          </a:prstGeom>
        </p:spPr>
        <p:txBody>
          <a:bodyPr lIns="0" tIns="0" rIns="0" bIns="0"/>
          <a:lstStyle>
            <a:lvl1pPr>
              <a:buNone/>
              <a:defRPr sz="1000">
                <a:solidFill>
                  <a:srgbClr val="8A9A91"/>
                </a:solidFill>
              </a:defRPr>
            </a:lvl1pPr>
          </a:lstStyle>
          <a:p>
            <a:pPr algn="r">
              <a:buNone/>
            </a:pPr>
            <a:fld id="{F7021451-1387-4CA6-816F-3879F97B5CBC}" type="slidenum">
              <a:rPr b="0"/>
              <a:t>9</a:t>
            </a:fld>
            <a:endParaRPr/>
          </a:p>
        </p:txBody>
      </p:sp>
    </p:spTree>
    <p:extLst>
      <p:ext uri="{BB962C8B-B14F-4D97-AF65-F5344CB8AC3E}">
        <p14:creationId xmlns:p14="http://schemas.microsoft.com/office/powerpoint/2010/main" val="3571510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a:extLst>
              <a:ext uri="{FF2B5EF4-FFF2-40B4-BE49-F238E27FC236}">
                <a16:creationId xmlns:a16="http://schemas.microsoft.com/office/drawing/2014/main" xmlns="" id="{55A84F12-36FD-4EA7-ABEC-F81360BDF2CA}"/>
              </a:ext>
            </a:extLst>
          </p:cNvPr>
          <p:cNvSpPr>
            <a:spLocks noGrp="1"/>
          </p:cNvSpPr>
          <p:nvPr>
            <p:ph type="title" idx="101"/>
          </p:nvPr>
        </p:nvSpPr>
        <p:spPr>
          <a:xfrm>
            <a:off x="548640" y="365760"/>
            <a:ext cx="11091672" cy="914400"/>
          </a:xfrm>
          <a:prstGeom prst="rect">
            <a:avLst/>
          </a:prstGeom>
          <a:noFill/>
        </p:spPr>
        <p:txBody>
          <a:bodyPr wrap="square" lIns="0" tIns="0" rIns="0" bIns="0" anchor="t"/>
          <a:lstStyle/>
          <a:p>
            <a:pPr marL="0" indent="0" algn="l">
              <a:buNone/>
            </a:pPr>
            <a:r>
              <a:rPr sz="3000" b="1">
                <a:solidFill>
                  <a:schemeClr val="tx2"/>
                </a:solidFill>
                <a:latin typeface="Cambria"/>
                <a:ea typeface="Cambria"/>
                <a:cs typeface="Cambria"/>
              </a:rPr>
              <a:t>Limitations: how far the evidence can be read</a:t>
            </a:r>
            <a:endParaRPr sz="3000"/>
          </a:p>
        </p:txBody>
      </p:sp>
      <p:sp>
        <p:nvSpPr>
          <p:cNvPr id="3" name="Limitation card 1">
            <a:extLst>
              <a:ext uri="{FF2B5EF4-FFF2-40B4-BE49-F238E27FC236}">
                <a16:creationId xmlns:a16="http://schemas.microsoft.com/office/drawing/2014/main" xmlns="" id="{E558E3E3-5B38-4F17-8D10-D7FCCB43F4AD}"/>
              </a:ext>
            </a:extLst>
          </p:cNvPr>
          <p:cNvSpPr>
            <a:spLocks noGrp="1"/>
          </p:cNvSpPr>
          <p:nvPr/>
        </p:nvSpPr>
        <p:spPr>
          <a:xfrm>
            <a:off x="548640" y="1600200"/>
            <a:ext cx="11091672" cy="1280160"/>
          </a:xfrm>
          <a:prstGeom prst="rect">
            <a:avLst/>
          </a:prstGeom>
          <a:solidFill>
            <a:schemeClr val="bg2"/>
          </a:solidFill>
          <a:ln w="9525">
            <a:solidFill>
              <a:srgbClr val="D5DDD8"/>
            </a:solidFill>
            <a:prstDash val="solid"/>
          </a:ln>
        </p:spPr>
      </p:sp>
      <p:sp>
        <p:nvSpPr>
          <p:cNvPr id="4" name="Marker 1">
            <a:extLst>
              <a:ext uri="{FF2B5EF4-FFF2-40B4-BE49-F238E27FC236}">
                <a16:creationId xmlns:a16="http://schemas.microsoft.com/office/drawing/2014/main" xmlns="" id="{7901D947-9152-4526-BAFD-43B8C2A6C35E}"/>
              </a:ext>
            </a:extLst>
          </p:cNvPr>
          <p:cNvSpPr>
            <a:spLocks noGrp="1"/>
          </p:cNvSpPr>
          <p:nvPr/>
        </p:nvSpPr>
        <p:spPr>
          <a:xfrm>
            <a:off x="822960" y="2011680"/>
            <a:ext cx="457200" cy="457200"/>
          </a:xfrm>
          <a:prstGeom prst="ellipse">
            <a:avLst/>
          </a:prstGeom>
          <a:solidFill>
            <a:schemeClr val="accent2"/>
          </a:solidFill>
          <a:ln w="12700">
            <a:solidFill>
              <a:schemeClr val="accent2"/>
            </a:solidFill>
            <a:prstDash val="solid"/>
          </a:ln>
        </p:spPr>
      </p:sp>
      <p:sp>
        <p:nvSpPr>
          <p:cNvPr id="5" name="Text 3">
            <a:extLst>
              <a:ext uri="{FF2B5EF4-FFF2-40B4-BE49-F238E27FC236}">
                <a16:creationId xmlns:a16="http://schemas.microsoft.com/office/drawing/2014/main" xmlns="" id="{CE9D5F9C-5D3A-4606-B3A2-9B3453AC7843}"/>
              </a:ext>
            </a:extLst>
          </p:cNvPr>
          <p:cNvSpPr>
            <a:spLocks noGrp="1"/>
          </p:cNvSpPr>
          <p:nvPr/>
        </p:nvSpPr>
        <p:spPr>
          <a:xfrm>
            <a:off x="822960" y="2011680"/>
            <a:ext cx="457200" cy="457200"/>
          </a:xfrm>
          <a:prstGeom prst="rect">
            <a:avLst/>
          </a:prstGeom>
          <a:noFill/>
        </p:spPr>
        <p:txBody>
          <a:bodyPr wrap="square" lIns="0" tIns="0" rIns="0" bIns="0" anchor="ctr"/>
          <a:lstStyle/>
          <a:p>
            <a:pPr marL="0" indent="0" algn="ctr">
              <a:buNone/>
            </a:pPr>
            <a:r>
              <a:rPr sz="1600" b="1">
                <a:solidFill>
                  <a:schemeClr val="bg1"/>
                </a:solidFill>
                <a:latin typeface="Cambria"/>
                <a:ea typeface="Cambria"/>
                <a:cs typeface="Cambria"/>
              </a:rPr>
              <a:t>1</a:t>
            </a:r>
            <a:endParaRPr sz="1600"/>
          </a:p>
        </p:txBody>
      </p:sp>
      <p:sp>
        <p:nvSpPr>
          <p:cNvPr id="6" name="Text 4">
            <a:extLst>
              <a:ext uri="{FF2B5EF4-FFF2-40B4-BE49-F238E27FC236}">
                <a16:creationId xmlns:a16="http://schemas.microsoft.com/office/drawing/2014/main" xmlns="" id="{B6C2DD21-9FDA-4ACB-B36F-35EA970AA06D}"/>
              </a:ext>
            </a:extLst>
          </p:cNvPr>
          <p:cNvSpPr>
            <a:spLocks noGrp="1"/>
          </p:cNvSpPr>
          <p:nvPr/>
        </p:nvSpPr>
        <p:spPr>
          <a:xfrm>
            <a:off x="1554480" y="1737360"/>
            <a:ext cx="3657600" cy="1005840"/>
          </a:xfrm>
          <a:prstGeom prst="rect">
            <a:avLst/>
          </a:prstGeom>
          <a:noFill/>
        </p:spPr>
        <p:txBody>
          <a:bodyPr wrap="square" lIns="0" tIns="0" rIns="0" bIns="0" anchor="ctr"/>
          <a:lstStyle/>
          <a:p>
            <a:pPr marL="0" indent="0">
              <a:buNone/>
            </a:pPr>
            <a:r>
              <a:rPr sz="2000" b="1">
                <a:solidFill>
                  <a:schemeClr val="tx2"/>
                </a:solidFill>
                <a:latin typeface="Cambria"/>
                <a:ea typeface="Cambria"/>
                <a:cs typeface="Cambria"/>
              </a:rPr>
              <a:t>Cross-section, not a life path</a:t>
            </a:r>
            <a:endParaRPr sz="2000"/>
          </a:p>
        </p:txBody>
      </p:sp>
      <p:sp>
        <p:nvSpPr>
          <p:cNvPr id="7" name="Text 5">
            <a:extLst>
              <a:ext uri="{FF2B5EF4-FFF2-40B4-BE49-F238E27FC236}">
                <a16:creationId xmlns:a16="http://schemas.microsoft.com/office/drawing/2014/main" xmlns="" id="{273B92ED-F1E6-4ED2-9BA1-D43277BC87D0}"/>
              </a:ext>
            </a:extLst>
          </p:cNvPr>
          <p:cNvSpPr>
            <a:spLocks noGrp="1"/>
          </p:cNvSpPr>
          <p:nvPr/>
        </p:nvSpPr>
        <p:spPr>
          <a:xfrm>
            <a:off x="5394960" y="1737360"/>
            <a:ext cx="6035040" cy="1005840"/>
          </a:xfrm>
          <a:prstGeom prst="rect">
            <a:avLst/>
          </a:prstGeom>
          <a:noFill/>
        </p:spPr>
        <p:txBody>
          <a:bodyPr wrap="square" lIns="0" tIns="0" rIns="0" bIns="0" anchor="ctr"/>
          <a:lstStyle/>
          <a:p>
            <a:pPr marL="0" indent="0">
              <a:buNone/>
            </a:pPr>
            <a:r>
              <a:rPr sz="1600">
                <a:solidFill>
                  <a:schemeClr val="tx1"/>
                </a:solidFill>
              </a:rPr>
              <a:t>Band means compare different people at one point in time. The figure cannot show how any individual's earnings change as they age.</a:t>
            </a:r>
            <a:endParaRPr sz="1600"/>
          </a:p>
        </p:txBody>
      </p:sp>
      <p:sp>
        <p:nvSpPr>
          <p:cNvPr id="8" name="Limitation card 2">
            <a:extLst>
              <a:ext uri="{FF2B5EF4-FFF2-40B4-BE49-F238E27FC236}">
                <a16:creationId xmlns:a16="http://schemas.microsoft.com/office/drawing/2014/main" xmlns="" id="{7BB9F18C-E36E-4E07-B82E-7F02AA658548}"/>
              </a:ext>
            </a:extLst>
          </p:cNvPr>
          <p:cNvSpPr>
            <a:spLocks noGrp="1"/>
          </p:cNvSpPr>
          <p:nvPr/>
        </p:nvSpPr>
        <p:spPr>
          <a:xfrm>
            <a:off x="548640" y="3063240"/>
            <a:ext cx="11091672" cy="1280160"/>
          </a:xfrm>
          <a:prstGeom prst="rect">
            <a:avLst/>
          </a:prstGeom>
          <a:solidFill>
            <a:schemeClr val="bg2"/>
          </a:solidFill>
          <a:ln w="9525">
            <a:solidFill>
              <a:srgbClr val="D5DDD8"/>
            </a:solidFill>
            <a:prstDash val="solid"/>
          </a:ln>
        </p:spPr>
      </p:sp>
      <p:sp>
        <p:nvSpPr>
          <p:cNvPr id="9" name="Marker 2">
            <a:extLst>
              <a:ext uri="{FF2B5EF4-FFF2-40B4-BE49-F238E27FC236}">
                <a16:creationId xmlns:a16="http://schemas.microsoft.com/office/drawing/2014/main" xmlns="" id="{C08C64F3-E206-4C15-A6BD-9B991D57664C}"/>
              </a:ext>
            </a:extLst>
          </p:cNvPr>
          <p:cNvSpPr>
            <a:spLocks noGrp="1"/>
          </p:cNvSpPr>
          <p:nvPr/>
        </p:nvSpPr>
        <p:spPr>
          <a:xfrm>
            <a:off x="822960" y="3474720"/>
            <a:ext cx="457200" cy="457200"/>
          </a:xfrm>
          <a:prstGeom prst="ellipse">
            <a:avLst/>
          </a:prstGeom>
          <a:solidFill>
            <a:schemeClr val="accent2"/>
          </a:solidFill>
          <a:ln w="12700">
            <a:solidFill>
              <a:schemeClr val="accent2"/>
            </a:solidFill>
            <a:prstDash val="solid"/>
          </a:ln>
        </p:spPr>
      </p:sp>
      <p:sp>
        <p:nvSpPr>
          <p:cNvPr id="10" name="Text 8">
            <a:extLst>
              <a:ext uri="{FF2B5EF4-FFF2-40B4-BE49-F238E27FC236}">
                <a16:creationId xmlns:a16="http://schemas.microsoft.com/office/drawing/2014/main" xmlns="" id="{3B1F91B3-740C-47EC-AFF1-9825A799E195}"/>
              </a:ext>
            </a:extLst>
          </p:cNvPr>
          <p:cNvSpPr>
            <a:spLocks noGrp="1"/>
          </p:cNvSpPr>
          <p:nvPr/>
        </p:nvSpPr>
        <p:spPr>
          <a:xfrm>
            <a:off x="822960" y="3474720"/>
            <a:ext cx="457200" cy="457200"/>
          </a:xfrm>
          <a:prstGeom prst="rect">
            <a:avLst/>
          </a:prstGeom>
          <a:noFill/>
        </p:spPr>
        <p:txBody>
          <a:bodyPr wrap="square" lIns="0" tIns="0" rIns="0" bIns="0" anchor="ctr"/>
          <a:lstStyle/>
          <a:p>
            <a:pPr marL="0" indent="0" algn="ctr">
              <a:buNone/>
            </a:pPr>
            <a:r>
              <a:rPr sz="1600" b="1">
                <a:solidFill>
                  <a:schemeClr val="bg1"/>
                </a:solidFill>
                <a:latin typeface="Cambria"/>
                <a:ea typeface="Cambria"/>
                <a:cs typeface="Cambria"/>
              </a:rPr>
              <a:t>2</a:t>
            </a:r>
            <a:endParaRPr sz="1600"/>
          </a:p>
        </p:txBody>
      </p:sp>
      <p:sp>
        <p:nvSpPr>
          <p:cNvPr id="11" name="Text 9">
            <a:extLst>
              <a:ext uri="{FF2B5EF4-FFF2-40B4-BE49-F238E27FC236}">
                <a16:creationId xmlns:a16="http://schemas.microsoft.com/office/drawing/2014/main" xmlns="" id="{6EC2D1A3-EB2B-455D-ABE9-6ACDB16878E1}"/>
              </a:ext>
            </a:extLst>
          </p:cNvPr>
          <p:cNvSpPr>
            <a:spLocks noGrp="1"/>
          </p:cNvSpPr>
          <p:nvPr/>
        </p:nvSpPr>
        <p:spPr>
          <a:xfrm>
            <a:off x="1554480" y="3200400"/>
            <a:ext cx="3657600" cy="1005840"/>
          </a:xfrm>
          <a:prstGeom prst="rect">
            <a:avLst/>
          </a:prstGeom>
          <a:noFill/>
        </p:spPr>
        <p:txBody>
          <a:bodyPr wrap="square" lIns="0" tIns="0" rIns="0" bIns="0" anchor="ctr"/>
          <a:lstStyle/>
          <a:p>
            <a:pPr marL="0" indent="0">
              <a:buNone/>
            </a:pPr>
            <a:r>
              <a:rPr sz="2000" b="1">
                <a:solidFill>
                  <a:schemeClr val="tx2"/>
                </a:solidFill>
                <a:latin typeface="Cambria"/>
                <a:ea typeface="Cambria"/>
                <a:cs typeface="Cambria"/>
              </a:rPr>
              <a:t>Heaping at round numbers</a:t>
            </a:r>
            <a:endParaRPr sz="2000"/>
          </a:p>
        </p:txBody>
      </p:sp>
      <p:sp>
        <p:nvSpPr>
          <p:cNvPr id="12" name="Text 10">
            <a:extLst>
              <a:ext uri="{FF2B5EF4-FFF2-40B4-BE49-F238E27FC236}">
                <a16:creationId xmlns:a16="http://schemas.microsoft.com/office/drawing/2014/main" xmlns="" id="{FE99DF8C-4A7F-4932-96D0-5E2A4F1D6C85}"/>
              </a:ext>
            </a:extLst>
          </p:cNvPr>
          <p:cNvSpPr>
            <a:spLocks noGrp="1"/>
          </p:cNvSpPr>
          <p:nvPr/>
        </p:nvSpPr>
        <p:spPr>
          <a:xfrm>
            <a:off x="5394960" y="3200400"/>
            <a:ext cx="6035040" cy="1005840"/>
          </a:xfrm>
          <a:prstGeom prst="rect">
            <a:avLst/>
          </a:prstGeom>
          <a:noFill/>
        </p:spPr>
        <p:txBody>
          <a:bodyPr wrap="square" lIns="0" tIns="0" rIns="0" bIns="0" anchor="ctr"/>
          <a:lstStyle/>
          <a:p>
            <a:pPr marL="0" indent="0">
              <a:buNone/>
            </a:pPr>
            <a:r>
              <a:rPr sz="1600">
                <a:solidFill>
                  <a:schemeClr val="tx1"/>
                </a:solidFill>
              </a:rPr>
              <a:t>About 7% of earners report exactly Rs 240,000, which anchors the median and limits resolution near the centre.</a:t>
            </a:r>
            <a:endParaRPr sz="1600"/>
          </a:p>
        </p:txBody>
      </p:sp>
      <p:sp>
        <p:nvSpPr>
          <p:cNvPr id="13" name="Limitation card 3">
            <a:extLst>
              <a:ext uri="{FF2B5EF4-FFF2-40B4-BE49-F238E27FC236}">
                <a16:creationId xmlns:a16="http://schemas.microsoft.com/office/drawing/2014/main" xmlns="" id="{EA8C86BC-90ED-4712-ACBB-F4AAF6AA2582}"/>
              </a:ext>
            </a:extLst>
          </p:cNvPr>
          <p:cNvSpPr>
            <a:spLocks noGrp="1"/>
          </p:cNvSpPr>
          <p:nvPr/>
        </p:nvSpPr>
        <p:spPr>
          <a:xfrm>
            <a:off x="548640" y="4526280"/>
            <a:ext cx="11091672" cy="1280160"/>
          </a:xfrm>
          <a:prstGeom prst="rect">
            <a:avLst/>
          </a:prstGeom>
          <a:solidFill>
            <a:schemeClr val="bg2"/>
          </a:solidFill>
          <a:ln w="9525">
            <a:solidFill>
              <a:srgbClr val="D5DDD8"/>
            </a:solidFill>
            <a:prstDash val="solid"/>
          </a:ln>
        </p:spPr>
      </p:sp>
      <p:sp>
        <p:nvSpPr>
          <p:cNvPr id="14" name="Marker 3">
            <a:extLst>
              <a:ext uri="{FF2B5EF4-FFF2-40B4-BE49-F238E27FC236}">
                <a16:creationId xmlns:a16="http://schemas.microsoft.com/office/drawing/2014/main" xmlns="" id="{0A52890A-8821-48F9-960C-E0AA83A6FE58}"/>
              </a:ext>
            </a:extLst>
          </p:cNvPr>
          <p:cNvSpPr>
            <a:spLocks noGrp="1"/>
          </p:cNvSpPr>
          <p:nvPr/>
        </p:nvSpPr>
        <p:spPr>
          <a:xfrm>
            <a:off x="822960" y="4937760"/>
            <a:ext cx="457200" cy="457200"/>
          </a:xfrm>
          <a:prstGeom prst="ellipse">
            <a:avLst/>
          </a:prstGeom>
          <a:solidFill>
            <a:schemeClr val="accent2"/>
          </a:solidFill>
          <a:ln w="12700">
            <a:solidFill>
              <a:schemeClr val="accent2"/>
            </a:solidFill>
            <a:prstDash val="solid"/>
          </a:ln>
        </p:spPr>
      </p:sp>
      <p:sp>
        <p:nvSpPr>
          <p:cNvPr id="15" name="Text 13">
            <a:extLst>
              <a:ext uri="{FF2B5EF4-FFF2-40B4-BE49-F238E27FC236}">
                <a16:creationId xmlns:a16="http://schemas.microsoft.com/office/drawing/2014/main" xmlns="" id="{C249A57B-58E2-4C09-BA79-8F93C0306C13}"/>
              </a:ext>
            </a:extLst>
          </p:cNvPr>
          <p:cNvSpPr>
            <a:spLocks noGrp="1"/>
          </p:cNvSpPr>
          <p:nvPr/>
        </p:nvSpPr>
        <p:spPr>
          <a:xfrm>
            <a:off x="822960" y="4937760"/>
            <a:ext cx="457200" cy="457200"/>
          </a:xfrm>
          <a:prstGeom prst="rect">
            <a:avLst/>
          </a:prstGeom>
          <a:noFill/>
        </p:spPr>
        <p:txBody>
          <a:bodyPr wrap="square" lIns="0" tIns="0" rIns="0" bIns="0" anchor="ctr"/>
          <a:lstStyle/>
          <a:p>
            <a:pPr marL="0" indent="0" algn="ctr">
              <a:buNone/>
            </a:pPr>
            <a:r>
              <a:rPr sz="1600" b="1">
                <a:solidFill>
                  <a:schemeClr val="bg1"/>
                </a:solidFill>
                <a:latin typeface="Cambria"/>
                <a:ea typeface="Cambria"/>
                <a:cs typeface="Cambria"/>
              </a:rPr>
              <a:t>3</a:t>
            </a:r>
            <a:endParaRPr sz="1600"/>
          </a:p>
        </p:txBody>
      </p:sp>
      <p:sp>
        <p:nvSpPr>
          <p:cNvPr id="16" name="Text 14">
            <a:extLst>
              <a:ext uri="{FF2B5EF4-FFF2-40B4-BE49-F238E27FC236}">
                <a16:creationId xmlns:a16="http://schemas.microsoft.com/office/drawing/2014/main" xmlns="" id="{F56BE2D5-BD1C-474F-A2C7-DC90616EB276}"/>
              </a:ext>
            </a:extLst>
          </p:cNvPr>
          <p:cNvSpPr>
            <a:spLocks noGrp="1"/>
          </p:cNvSpPr>
          <p:nvPr/>
        </p:nvSpPr>
        <p:spPr>
          <a:xfrm>
            <a:off x="1554480" y="4663440"/>
            <a:ext cx="3657600" cy="1005840"/>
          </a:xfrm>
          <a:prstGeom prst="rect">
            <a:avLst/>
          </a:prstGeom>
          <a:noFill/>
        </p:spPr>
        <p:txBody>
          <a:bodyPr wrap="square" lIns="0" tIns="0" rIns="0" bIns="0" anchor="ctr"/>
          <a:lstStyle/>
          <a:p>
            <a:pPr marL="0" indent="0">
              <a:buNone/>
            </a:pPr>
            <a:r>
              <a:rPr sz="2000" b="1">
                <a:solidFill>
                  <a:schemeClr val="tx2"/>
                </a:solidFill>
                <a:latin typeface="Cambria"/>
                <a:ea typeface="Cambria"/>
                <a:cs typeface="Cambria"/>
              </a:rPr>
              <a:t>Hidden extremes in the redesign</a:t>
            </a:r>
            <a:endParaRPr sz="2000"/>
          </a:p>
        </p:txBody>
      </p:sp>
      <p:sp>
        <p:nvSpPr>
          <p:cNvPr id="17" name="Text 15">
            <a:extLst>
              <a:ext uri="{FF2B5EF4-FFF2-40B4-BE49-F238E27FC236}">
                <a16:creationId xmlns:a16="http://schemas.microsoft.com/office/drawing/2014/main" xmlns="" id="{2D042493-17F0-4C59-BEA6-6C6925A9150A}"/>
              </a:ext>
            </a:extLst>
          </p:cNvPr>
          <p:cNvSpPr>
            <a:spLocks noGrp="1"/>
          </p:cNvSpPr>
          <p:nvPr/>
        </p:nvSpPr>
        <p:spPr>
          <a:xfrm>
            <a:off x="5394960" y="4663440"/>
            <a:ext cx="6035040" cy="1005840"/>
          </a:xfrm>
          <a:prstGeom prst="rect">
            <a:avLst/>
          </a:prstGeom>
          <a:noFill/>
        </p:spPr>
        <p:txBody>
          <a:bodyPr wrap="square" lIns="0" tIns="0" rIns="0" bIns="0" anchor="ctr"/>
          <a:lstStyle/>
          <a:p>
            <a:pPr marL="0" indent="0">
              <a:buNone/>
            </a:pPr>
            <a:r>
              <a:rPr sz="1600">
                <a:solidFill>
                  <a:schemeClr val="tx1"/>
                </a:solidFill>
              </a:rPr>
              <a:t>Five earners above Rs 10,000,000 (up to Rs 24,000,000) and twenty below Rs 10,000 fall off the axis; the caption states the count.</a:t>
            </a:r>
            <a:endParaRPr sz="1600"/>
          </a:p>
        </p:txBody>
      </p:sp>
      <p:sp>
        <p:nvSpPr>
          <p:cNvPr id="25" name="Slide Number Placeholder 0">
            <a:extLst>
              <a:ext uri="{FF2B5EF4-FFF2-40B4-BE49-F238E27FC236}">
                <a16:creationId xmlns:a16="http://schemas.microsoft.com/office/drawing/2014/main" xmlns="" id="{0FB89A94-C566-4510-B1B9-6F44B8996685}"/>
              </a:ext>
            </a:extLst>
          </p:cNvPr>
          <p:cNvSpPr>
            <a:spLocks noGrp="1"/>
          </p:cNvSpPr>
          <p:nvPr>
            <p:ph type="sldNum" idx="4294967295"/>
          </p:nvPr>
        </p:nvSpPr>
        <p:spPr>
          <a:xfrm>
            <a:off x="11091672" y="6355080"/>
            <a:ext cx="548640" cy="274320"/>
          </a:xfrm>
          <a:prstGeom prst="rect">
            <a:avLst/>
          </a:prstGeom>
        </p:spPr>
        <p:txBody>
          <a:bodyPr lIns="0" tIns="0" rIns="0" bIns="0"/>
          <a:lstStyle>
            <a:lvl1pPr>
              <a:buNone/>
              <a:defRPr sz="1000">
                <a:solidFill>
                  <a:srgbClr val="8A9A91"/>
                </a:solidFill>
              </a:defRPr>
            </a:lvl1pPr>
          </a:lstStyle>
          <a:p>
            <a:pPr algn="r">
              <a:buNone/>
            </a:pPr>
            <a:fld id="{F7021451-1387-4CA6-816F-3879F97B5CBC}" type="slidenum">
              <a:rPr b="0"/>
              <a:t>10</a:t>
            </a:fld>
            <a:endParaRPr/>
          </a:p>
        </p:txBody>
      </p:sp>
    </p:spTree>
    <p:extLst>
      <p:ext uri="{BB962C8B-B14F-4D97-AF65-F5344CB8AC3E}">
        <p14:creationId xmlns:p14="http://schemas.microsoft.com/office/powerpoint/2010/main" val="15738555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xmlns="" id="{765E2867-7E36-47B7-8E09-E77479CFEC60}"/>
              </a:ext>
            </a:extLst>
          </p:cNvPr>
          <p:cNvSpPr>
            <a:spLocks noGrp="1"/>
          </p:cNvSpPr>
          <p:nvPr>
            <p:ph type="title" idx="100"/>
          </p:nvPr>
        </p:nvSpPr>
        <p:spPr>
          <a:xfrm>
            <a:off x="731520" y="548640"/>
            <a:ext cx="10698480" cy="822960"/>
          </a:xfrm>
          <a:prstGeom prst="rect">
            <a:avLst/>
          </a:prstGeom>
          <a:noFill/>
        </p:spPr>
        <p:txBody>
          <a:bodyPr wrap="square" lIns="0" tIns="0" rIns="0" bIns="0" anchor="t"/>
          <a:lstStyle/>
          <a:p>
            <a:pPr marL="0" indent="0" algn="l">
              <a:buNone/>
            </a:pPr>
            <a:r>
              <a:rPr sz="3400" b="1">
                <a:solidFill>
                  <a:schemeClr val="bg1"/>
                </a:solidFill>
                <a:latin typeface="Cambria"/>
                <a:ea typeface="Cambria"/>
                <a:cs typeface="Cambria"/>
              </a:rPr>
              <a:t>Conclusions</a:t>
            </a:r>
            <a:endParaRPr sz="3400"/>
          </a:p>
        </p:txBody>
      </p:sp>
      <p:sp>
        <p:nvSpPr>
          <p:cNvPr id="3" name="Conclusion card 1">
            <a:extLst>
              <a:ext uri="{FF2B5EF4-FFF2-40B4-BE49-F238E27FC236}">
                <a16:creationId xmlns:a16="http://schemas.microsoft.com/office/drawing/2014/main" xmlns="" id="{D24F49E3-E39B-411C-BBB4-9F38FA869FD0}"/>
              </a:ext>
            </a:extLst>
          </p:cNvPr>
          <p:cNvSpPr>
            <a:spLocks noGrp="1"/>
          </p:cNvSpPr>
          <p:nvPr/>
        </p:nvSpPr>
        <p:spPr>
          <a:xfrm>
            <a:off x="731520" y="1737360"/>
            <a:ext cx="3383280" cy="2286000"/>
          </a:xfrm>
          <a:prstGeom prst="rect">
            <a:avLst/>
          </a:prstGeom>
          <a:solidFill>
            <a:srgbClr val="134D3B"/>
          </a:solidFill>
          <a:ln w="9525">
            <a:solidFill>
              <a:srgbClr val="2E6A55"/>
            </a:solidFill>
            <a:prstDash val="solid"/>
          </a:ln>
        </p:spPr>
      </p:sp>
      <p:sp>
        <p:nvSpPr>
          <p:cNvPr id="4" name="Text 2">
            <a:extLst>
              <a:ext uri="{FF2B5EF4-FFF2-40B4-BE49-F238E27FC236}">
                <a16:creationId xmlns:a16="http://schemas.microsoft.com/office/drawing/2014/main" xmlns="" id="{CD1E21BD-4BE9-494A-9C8B-EFB80FC9CA37}"/>
              </a:ext>
            </a:extLst>
          </p:cNvPr>
          <p:cNvSpPr>
            <a:spLocks noGrp="1"/>
          </p:cNvSpPr>
          <p:nvPr/>
        </p:nvSpPr>
        <p:spPr>
          <a:xfrm>
            <a:off x="960120" y="1874520"/>
            <a:ext cx="2926080" cy="548640"/>
          </a:xfrm>
          <a:prstGeom prst="rect">
            <a:avLst/>
          </a:prstGeom>
          <a:noFill/>
        </p:spPr>
        <p:txBody>
          <a:bodyPr wrap="square" lIns="0" tIns="0" rIns="0" bIns="0" anchor="ctr"/>
          <a:lstStyle/>
          <a:p>
            <a:pPr marL="0" indent="0">
              <a:buNone/>
            </a:pPr>
            <a:r>
              <a:rPr sz="2200" b="1">
                <a:solidFill>
                  <a:srgbClr val="E3C16F"/>
                </a:solidFill>
                <a:latin typeface="Cambria"/>
                <a:ea typeface="Cambria"/>
                <a:cs typeface="Cambria"/>
              </a:rPr>
              <a:t>Wide dispersion</a:t>
            </a:r>
            <a:endParaRPr sz="2200"/>
          </a:p>
        </p:txBody>
      </p:sp>
      <p:sp>
        <p:nvSpPr>
          <p:cNvPr id="5" name="Text 3">
            <a:extLst>
              <a:ext uri="{FF2B5EF4-FFF2-40B4-BE49-F238E27FC236}">
                <a16:creationId xmlns:a16="http://schemas.microsoft.com/office/drawing/2014/main" xmlns="" id="{3896FE0D-85CF-49FB-8A5F-9FCD6D6D624E}"/>
              </a:ext>
            </a:extLst>
          </p:cNvPr>
          <p:cNvSpPr>
            <a:spLocks noGrp="1"/>
          </p:cNvSpPr>
          <p:nvPr/>
        </p:nvSpPr>
        <p:spPr>
          <a:xfrm>
            <a:off x="960120" y="2514600"/>
            <a:ext cx="2926080" cy="1600200"/>
          </a:xfrm>
          <a:prstGeom prst="rect">
            <a:avLst/>
          </a:prstGeom>
          <a:noFill/>
        </p:spPr>
        <p:txBody>
          <a:bodyPr wrap="square" lIns="0" tIns="0" rIns="0" bIns="0" anchor="t"/>
          <a:lstStyle/>
          <a:p>
            <a:pPr marL="0" indent="0">
              <a:buNone/>
            </a:pPr>
            <a:r>
              <a:rPr sz="1500">
                <a:solidFill>
                  <a:schemeClr val="bg1"/>
                </a:solidFill>
              </a:rPr>
              <a:t>The 90th percentile (Rs 660,000) is 6.9 times the 10th (Rs 96,000); the median is Rs 240,000.</a:t>
            </a:r>
            <a:endParaRPr sz="1500"/>
          </a:p>
        </p:txBody>
      </p:sp>
      <p:sp>
        <p:nvSpPr>
          <p:cNvPr id="6" name="Conclusion card 2">
            <a:extLst>
              <a:ext uri="{FF2B5EF4-FFF2-40B4-BE49-F238E27FC236}">
                <a16:creationId xmlns:a16="http://schemas.microsoft.com/office/drawing/2014/main" xmlns="" id="{53BC7DEA-4D42-45A3-A506-889D54C5518F}"/>
              </a:ext>
            </a:extLst>
          </p:cNvPr>
          <p:cNvSpPr>
            <a:spLocks noGrp="1"/>
          </p:cNvSpPr>
          <p:nvPr/>
        </p:nvSpPr>
        <p:spPr>
          <a:xfrm>
            <a:off x="4389120" y="1737360"/>
            <a:ext cx="3383280" cy="2286000"/>
          </a:xfrm>
          <a:prstGeom prst="rect">
            <a:avLst/>
          </a:prstGeom>
          <a:solidFill>
            <a:srgbClr val="134D3B"/>
          </a:solidFill>
          <a:ln w="9525">
            <a:solidFill>
              <a:srgbClr val="2E6A55"/>
            </a:solidFill>
            <a:prstDash val="solid"/>
          </a:ln>
        </p:spPr>
      </p:sp>
      <p:sp>
        <p:nvSpPr>
          <p:cNvPr id="7" name="Text 5">
            <a:extLst>
              <a:ext uri="{FF2B5EF4-FFF2-40B4-BE49-F238E27FC236}">
                <a16:creationId xmlns:a16="http://schemas.microsoft.com/office/drawing/2014/main" xmlns="" id="{2CD667E9-1128-49EC-A684-CCA95DEDFBC5}"/>
              </a:ext>
            </a:extLst>
          </p:cNvPr>
          <p:cNvSpPr>
            <a:spLocks noGrp="1"/>
          </p:cNvSpPr>
          <p:nvPr/>
        </p:nvSpPr>
        <p:spPr>
          <a:xfrm>
            <a:off x="4617720" y="1874520"/>
            <a:ext cx="2926080" cy="548640"/>
          </a:xfrm>
          <a:prstGeom prst="rect">
            <a:avLst/>
          </a:prstGeom>
          <a:noFill/>
        </p:spPr>
        <p:txBody>
          <a:bodyPr wrap="square" lIns="0" tIns="0" rIns="0" bIns="0" anchor="ctr"/>
          <a:lstStyle/>
          <a:p>
            <a:pPr marL="0" indent="0">
              <a:buNone/>
            </a:pPr>
            <a:r>
              <a:rPr sz="2200" b="1">
                <a:solidFill>
                  <a:srgbClr val="E3C16F"/>
                </a:solidFill>
                <a:latin typeface="Cambria"/>
                <a:ea typeface="Cambria"/>
                <a:cs typeface="Cambria"/>
              </a:rPr>
              <a:t>Late peak</a:t>
            </a:r>
            <a:endParaRPr sz="2200"/>
          </a:p>
        </p:txBody>
      </p:sp>
      <p:sp>
        <p:nvSpPr>
          <p:cNvPr id="8" name="Text 6">
            <a:extLst>
              <a:ext uri="{FF2B5EF4-FFF2-40B4-BE49-F238E27FC236}">
                <a16:creationId xmlns:a16="http://schemas.microsoft.com/office/drawing/2014/main" xmlns="" id="{170A3984-275B-481D-ADF8-402F860510AB}"/>
              </a:ext>
            </a:extLst>
          </p:cNvPr>
          <p:cNvSpPr>
            <a:spLocks noGrp="1"/>
          </p:cNvSpPr>
          <p:nvPr/>
        </p:nvSpPr>
        <p:spPr>
          <a:xfrm>
            <a:off x="4617720" y="2514600"/>
            <a:ext cx="2926080" cy="1600200"/>
          </a:xfrm>
          <a:prstGeom prst="rect">
            <a:avLst/>
          </a:prstGeom>
          <a:noFill/>
        </p:spPr>
        <p:txBody>
          <a:bodyPr wrap="square" lIns="0" tIns="0" rIns="0" bIns="0" anchor="t"/>
          <a:lstStyle/>
          <a:p>
            <a:pPr marL="0" indent="0">
              <a:buNone/>
            </a:pPr>
            <a:r>
              <a:rPr sz="1500">
                <a:solidFill>
                  <a:schemeClr val="bg1"/>
                </a:solidFill>
              </a:rPr>
              <a:t>Weighted mean earnings rise steeply to age 29 and plateau near Rs 520,000 between ages 50 and 59.</a:t>
            </a:r>
            <a:endParaRPr sz="1500"/>
          </a:p>
        </p:txBody>
      </p:sp>
      <p:sp>
        <p:nvSpPr>
          <p:cNvPr id="9" name="Conclusion card 3">
            <a:extLst>
              <a:ext uri="{FF2B5EF4-FFF2-40B4-BE49-F238E27FC236}">
                <a16:creationId xmlns:a16="http://schemas.microsoft.com/office/drawing/2014/main" xmlns="" id="{3F938BA5-0FF6-4845-8210-5E75AAA24EB8}"/>
              </a:ext>
            </a:extLst>
          </p:cNvPr>
          <p:cNvSpPr>
            <a:spLocks noGrp="1"/>
          </p:cNvSpPr>
          <p:nvPr/>
        </p:nvSpPr>
        <p:spPr>
          <a:xfrm>
            <a:off x="8046720" y="1737360"/>
            <a:ext cx="3383280" cy="2286000"/>
          </a:xfrm>
          <a:prstGeom prst="rect">
            <a:avLst/>
          </a:prstGeom>
          <a:solidFill>
            <a:srgbClr val="134D3B"/>
          </a:solidFill>
          <a:ln w="9525">
            <a:solidFill>
              <a:srgbClr val="2E6A55"/>
            </a:solidFill>
            <a:prstDash val="solid"/>
          </a:ln>
        </p:spPr>
      </p:sp>
      <p:sp>
        <p:nvSpPr>
          <p:cNvPr id="10" name="Text 8">
            <a:extLst>
              <a:ext uri="{FF2B5EF4-FFF2-40B4-BE49-F238E27FC236}">
                <a16:creationId xmlns:a16="http://schemas.microsoft.com/office/drawing/2014/main" xmlns="" id="{AD664873-6617-40DF-A26B-8932C4696DA3}"/>
              </a:ext>
            </a:extLst>
          </p:cNvPr>
          <p:cNvSpPr>
            <a:spLocks noGrp="1"/>
          </p:cNvSpPr>
          <p:nvPr/>
        </p:nvSpPr>
        <p:spPr>
          <a:xfrm>
            <a:off x="8275320" y="1874520"/>
            <a:ext cx="2926080" cy="548640"/>
          </a:xfrm>
          <a:prstGeom prst="rect">
            <a:avLst/>
          </a:prstGeom>
          <a:noFill/>
        </p:spPr>
        <p:txBody>
          <a:bodyPr wrap="square" lIns="0" tIns="0" rIns="0" bIns="0" anchor="ctr"/>
          <a:lstStyle/>
          <a:p>
            <a:pPr marL="0" indent="0">
              <a:buNone/>
            </a:pPr>
            <a:r>
              <a:rPr sz="2200" b="1">
                <a:solidFill>
                  <a:srgbClr val="E3C16F"/>
                </a:solidFill>
                <a:latin typeface="Cambria"/>
                <a:ea typeface="Cambria"/>
                <a:cs typeface="Cambria"/>
              </a:rPr>
              <a:t>Robust result</a:t>
            </a:r>
            <a:endParaRPr sz="2200"/>
          </a:p>
        </p:txBody>
      </p:sp>
      <p:sp>
        <p:nvSpPr>
          <p:cNvPr id="11" name="Text 9">
            <a:extLst>
              <a:ext uri="{FF2B5EF4-FFF2-40B4-BE49-F238E27FC236}">
                <a16:creationId xmlns:a16="http://schemas.microsoft.com/office/drawing/2014/main" xmlns="" id="{B54CAA52-48A3-4383-9AF4-4E2D4C17787B}"/>
              </a:ext>
            </a:extLst>
          </p:cNvPr>
          <p:cNvSpPr>
            <a:spLocks noGrp="1"/>
          </p:cNvSpPr>
          <p:nvPr/>
        </p:nvSpPr>
        <p:spPr>
          <a:xfrm>
            <a:off x="8275320" y="2514600"/>
            <a:ext cx="2926080" cy="1600200"/>
          </a:xfrm>
          <a:prstGeom prst="rect">
            <a:avLst/>
          </a:prstGeom>
          <a:noFill/>
        </p:spPr>
        <p:txBody>
          <a:bodyPr wrap="square" lIns="0" tIns="0" rIns="0" bIns="0" anchor="t"/>
          <a:lstStyle/>
          <a:p>
            <a:pPr marL="0" indent="0">
              <a:buNone/>
            </a:pPr>
            <a:r>
              <a:rPr sz="1500">
                <a:solidFill>
                  <a:schemeClr val="bg1"/>
                </a:solidFill>
              </a:rPr>
              <a:t>The band table is identical in R and Python, with every band supported by 130 or more earners.</a:t>
            </a:r>
            <a:endParaRPr sz="1500"/>
          </a:p>
        </p:txBody>
      </p:sp>
      <p:sp>
        <p:nvSpPr>
          <p:cNvPr id="12" name="Text 10">
            <a:extLst>
              <a:ext uri="{FF2B5EF4-FFF2-40B4-BE49-F238E27FC236}">
                <a16:creationId xmlns:a16="http://schemas.microsoft.com/office/drawing/2014/main" xmlns="" id="{1B7AD7D6-57C5-4306-B32E-63F457724536}"/>
              </a:ext>
            </a:extLst>
          </p:cNvPr>
          <p:cNvSpPr>
            <a:spLocks noGrp="1"/>
          </p:cNvSpPr>
          <p:nvPr/>
        </p:nvSpPr>
        <p:spPr>
          <a:xfrm>
            <a:off x="731520" y="4552950"/>
            <a:ext cx="7620000" cy="723900"/>
          </a:xfrm>
          <a:prstGeom prst="rect">
            <a:avLst/>
          </a:prstGeom>
          <a:noFill/>
        </p:spPr>
        <p:txBody>
          <a:bodyPr wrap="square" lIns="0" tIns="0" rIns="0" bIns="0" anchor="ctr"/>
          <a:lstStyle>
            <a:lvl1pPr algn="l">
              <a:buNone/>
              <a:defRPr sz="4200" b="1">
                <a:solidFill>
                  <a:srgbClr val="E3C16F"/>
                </a:solidFill>
                <a:latin typeface="Cambria"/>
                <a:ea typeface="Cambria"/>
                <a:cs typeface="Cambria"/>
              </a:defRPr>
            </a:lvl1pPr>
            <a:lvl2pPr algn="l">
              <a:buNone/>
              <a:defRPr sz="4200" b="1">
                <a:solidFill>
                  <a:srgbClr val="E3C16F"/>
                </a:solidFill>
                <a:latin typeface="Cambria"/>
                <a:ea typeface="Cambria"/>
                <a:cs typeface="Cambria"/>
              </a:defRPr>
            </a:lvl2pPr>
            <a:lvl3pPr algn="l">
              <a:buNone/>
              <a:defRPr sz="4200" b="1">
                <a:solidFill>
                  <a:srgbClr val="E3C16F"/>
                </a:solidFill>
                <a:latin typeface="Cambria"/>
                <a:ea typeface="Cambria"/>
                <a:cs typeface="Cambria"/>
              </a:defRPr>
            </a:lvl3pPr>
            <a:lvl4pPr algn="l">
              <a:buNone/>
              <a:defRPr sz="4200" b="1">
                <a:solidFill>
                  <a:srgbClr val="E3C16F"/>
                </a:solidFill>
                <a:latin typeface="Cambria"/>
                <a:ea typeface="Cambria"/>
                <a:cs typeface="Cambria"/>
              </a:defRPr>
            </a:lvl4pPr>
            <a:lvl5pPr algn="l">
              <a:buNone/>
              <a:defRPr sz="4200" b="1">
                <a:solidFill>
                  <a:srgbClr val="E3C16F"/>
                </a:solidFill>
                <a:latin typeface="Cambria"/>
                <a:ea typeface="Cambria"/>
                <a:cs typeface="Cambria"/>
              </a:defRPr>
            </a:lvl5pPr>
            <a:lvl6pPr algn="l">
              <a:buNone/>
              <a:defRPr sz="4200" b="1">
                <a:solidFill>
                  <a:srgbClr val="E3C16F"/>
                </a:solidFill>
                <a:latin typeface="Cambria"/>
                <a:ea typeface="Cambria"/>
                <a:cs typeface="Cambria"/>
              </a:defRPr>
            </a:lvl6pPr>
            <a:lvl7pPr algn="l">
              <a:buNone/>
              <a:defRPr sz="4200" b="1">
                <a:solidFill>
                  <a:srgbClr val="E3C16F"/>
                </a:solidFill>
                <a:latin typeface="Cambria"/>
                <a:ea typeface="Cambria"/>
                <a:cs typeface="Cambria"/>
              </a:defRPr>
            </a:lvl7pPr>
            <a:lvl8pPr algn="l">
              <a:buNone/>
              <a:defRPr sz="4200" b="1">
                <a:solidFill>
                  <a:srgbClr val="E3C16F"/>
                </a:solidFill>
                <a:latin typeface="Cambria"/>
                <a:ea typeface="Cambria"/>
                <a:cs typeface="Cambria"/>
              </a:defRPr>
            </a:lvl8pPr>
            <a:lvl9pPr algn="l">
              <a:buNone/>
              <a:defRPr sz="4200" b="1">
                <a:solidFill>
                  <a:srgbClr val="E3C16F"/>
                </a:solidFill>
                <a:latin typeface="Cambria"/>
                <a:ea typeface="Cambria"/>
                <a:cs typeface="Cambria"/>
              </a:defRPr>
            </a:lvl9pPr>
          </a:lstStyle>
          <a:p>
            <a:pPr marL="0" indent="0" algn="l">
              <a:buNone/>
              <a:defRPr sz="4200" b="1">
                <a:solidFill>
                  <a:srgbClr val="E3C16F"/>
                </a:solidFill>
                <a:latin typeface="Cambria"/>
                <a:ea typeface="Cambria"/>
                <a:cs typeface="Cambria"/>
              </a:defRPr>
            </a:pPr>
            <a:r>
              <a:rPr sz="4200" b="1">
                <a:solidFill>
                  <a:srgbClr val="E3C16F"/>
                </a:solidFill>
                <a:latin typeface="Cambria"/>
                <a:ea typeface="Cambria"/>
                <a:cs typeface="Cambria"/>
              </a:rPr>
              <a:t>Thank You!</a:t>
            </a:r>
            <a:endParaRPr sz="1800"/>
          </a:p>
        </p:txBody>
      </p:sp>
      <p:sp>
        <p:nvSpPr>
          <p:cNvPr id="13" name="Text 11">
            <a:extLst>
              <a:ext uri="{FF2B5EF4-FFF2-40B4-BE49-F238E27FC236}">
                <a16:creationId xmlns:a16="http://schemas.microsoft.com/office/drawing/2014/main" xmlns="" id="{C8D672FD-CC2C-4657-A028-68D8349175CE}"/>
              </a:ext>
            </a:extLst>
          </p:cNvPr>
          <p:cNvSpPr>
            <a:spLocks noGrp="1"/>
          </p:cNvSpPr>
          <p:nvPr/>
        </p:nvSpPr>
        <p:spPr>
          <a:xfrm>
            <a:off x="731520" y="5391150"/>
            <a:ext cx="6858000" cy="400050"/>
          </a:xfrm>
          <a:prstGeom prst="rect">
            <a:avLst/>
          </a:prstGeom>
          <a:noFill/>
        </p:spPr>
        <p:txBody>
          <a:bodyPr wrap="square" lIns="0" tIns="0" rIns="0" bIns="0" anchor="t"/>
          <a:lstStyle>
            <a:lvl1pPr algn="l">
              <a:buNone/>
              <a:defRPr sz="1650">
                <a:solidFill>
                  <a:srgbClr val="D5DDD8"/>
                </a:solidFill>
                <a:latin typeface="Calibri"/>
                <a:ea typeface="Calibri"/>
                <a:cs typeface="Calibri"/>
              </a:defRPr>
            </a:lvl1pPr>
            <a:lvl2pPr algn="l">
              <a:buNone/>
              <a:defRPr sz="1650">
                <a:solidFill>
                  <a:srgbClr val="D5DDD8"/>
                </a:solidFill>
                <a:latin typeface="Calibri"/>
                <a:ea typeface="Calibri"/>
                <a:cs typeface="Calibri"/>
              </a:defRPr>
            </a:lvl2pPr>
            <a:lvl3pPr algn="l">
              <a:buNone/>
              <a:defRPr sz="1650">
                <a:solidFill>
                  <a:srgbClr val="D5DDD8"/>
                </a:solidFill>
                <a:latin typeface="Calibri"/>
                <a:ea typeface="Calibri"/>
                <a:cs typeface="Calibri"/>
              </a:defRPr>
            </a:lvl3pPr>
            <a:lvl4pPr algn="l">
              <a:buNone/>
              <a:defRPr sz="1650">
                <a:solidFill>
                  <a:srgbClr val="D5DDD8"/>
                </a:solidFill>
                <a:latin typeface="Calibri"/>
                <a:ea typeface="Calibri"/>
                <a:cs typeface="Calibri"/>
              </a:defRPr>
            </a:lvl4pPr>
            <a:lvl5pPr algn="l">
              <a:buNone/>
              <a:defRPr sz="1650">
                <a:solidFill>
                  <a:srgbClr val="D5DDD8"/>
                </a:solidFill>
                <a:latin typeface="Calibri"/>
                <a:ea typeface="Calibri"/>
                <a:cs typeface="Calibri"/>
              </a:defRPr>
            </a:lvl5pPr>
            <a:lvl6pPr algn="l">
              <a:buNone/>
              <a:defRPr sz="1650">
                <a:solidFill>
                  <a:srgbClr val="D5DDD8"/>
                </a:solidFill>
                <a:latin typeface="Calibri"/>
                <a:ea typeface="Calibri"/>
                <a:cs typeface="Calibri"/>
              </a:defRPr>
            </a:lvl6pPr>
            <a:lvl7pPr algn="l">
              <a:buNone/>
              <a:defRPr sz="1650">
                <a:solidFill>
                  <a:srgbClr val="D5DDD8"/>
                </a:solidFill>
                <a:latin typeface="Calibri"/>
                <a:ea typeface="Calibri"/>
                <a:cs typeface="Calibri"/>
              </a:defRPr>
            </a:lvl7pPr>
            <a:lvl8pPr algn="l">
              <a:buNone/>
              <a:defRPr sz="1650">
                <a:solidFill>
                  <a:srgbClr val="D5DDD8"/>
                </a:solidFill>
                <a:latin typeface="Calibri"/>
                <a:ea typeface="Calibri"/>
                <a:cs typeface="Calibri"/>
              </a:defRPr>
            </a:lvl8pPr>
            <a:lvl9pPr algn="l">
              <a:buNone/>
              <a:defRPr sz="1650">
                <a:solidFill>
                  <a:srgbClr val="D5DDD8"/>
                </a:solidFill>
                <a:latin typeface="Calibri"/>
                <a:ea typeface="Calibri"/>
                <a:cs typeface="Calibri"/>
              </a:defRPr>
            </a:lvl9pPr>
          </a:lstStyle>
          <a:p>
            <a:pPr marL="0" indent="0" algn="l">
              <a:buNone/>
              <a:defRPr sz="1650">
                <a:solidFill>
                  <a:srgbClr val="D5DDD8"/>
                </a:solidFill>
                <a:latin typeface="Calibri"/>
                <a:ea typeface="Calibri"/>
                <a:cs typeface="Calibri"/>
              </a:defRPr>
            </a:pPr>
            <a:endParaRPr sz="1500" dirty="0"/>
          </a:p>
        </p:txBody>
      </p:sp>
    </p:spTree>
    <p:extLst>
      <p:ext uri="{BB962C8B-B14F-4D97-AF65-F5344CB8AC3E}">
        <p14:creationId xmlns:p14="http://schemas.microsoft.com/office/powerpoint/2010/main" val="644139997"/>
      </p:ext>
    </p:extLst>
  </p:cSld>
  <p:clrMapOvr>
    <a:masterClrMapping/>
  </p:clrMapOvr>
</p:sld>
</file>

<file path=ppt/theme/theme1.xml><?xml version="1.0" encoding="utf-8"?>
<a:theme xmlns:a="http://schemas.openxmlformats.org/drawingml/2006/main" name="Earnings Formal">
  <a:themeElements>
    <a:clrScheme name="Earnings Formal">
      <a:dk1>
        <a:srgbClr val="1F2933"/>
      </a:dk1>
      <a:lt1>
        <a:srgbClr val="FFFFFF"/>
      </a:lt1>
      <a:dk2>
        <a:srgbClr val="0B3D2E"/>
      </a:dk2>
      <a:lt2>
        <a:srgbClr val="F1F4F2"/>
      </a:lt2>
      <a:accent1>
        <a:srgbClr val="0B3D2E"/>
      </a:accent1>
      <a:accent2>
        <a:srgbClr val="B8902F"/>
      </a:accent2>
      <a:accent3>
        <a:srgbClr val="5B7F6E"/>
      </a:accent3>
      <a:accent4>
        <a:srgbClr val="8A9A91"/>
      </a:accent4>
      <a:accent5>
        <a:srgbClr val="A23B2A"/>
      </a:accent5>
      <a:accent6>
        <a:srgbClr val="2F5D8A"/>
      </a:accent6>
      <a:hlink>
        <a:srgbClr val="2F5D8A"/>
      </a:hlink>
      <a:folHlink>
        <a:srgbClr val="5B7F6E"/>
      </a:folHlink>
    </a:clrScheme>
    <a:fontScheme name="Earnings Form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Earnings Formal">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Earnings Formal">
  <a:themeElements>
    <a:clrScheme name="Earnings Formal">
      <a:dk1>
        <a:srgbClr val="1F2933"/>
      </a:dk1>
      <a:lt1>
        <a:srgbClr val="FFFFFF"/>
      </a:lt1>
      <a:dk2>
        <a:srgbClr val="0B3D2E"/>
      </a:dk2>
      <a:lt2>
        <a:srgbClr val="F1F4F2"/>
      </a:lt2>
      <a:accent1>
        <a:srgbClr val="0B3D2E"/>
      </a:accent1>
      <a:accent2>
        <a:srgbClr val="B8902F"/>
      </a:accent2>
      <a:accent3>
        <a:srgbClr val="5B7F6E"/>
      </a:accent3>
      <a:accent4>
        <a:srgbClr val="8A9A91"/>
      </a:accent4>
      <a:accent5>
        <a:srgbClr val="A23B2A"/>
      </a:accent5>
      <a:accent6>
        <a:srgbClr val="2F5D8A"/>
      </a:accent6>
      <a:hlink>
        <a:srgbClr val="2F5D8A"/>
      </a:hlink>
      <a:folHlink>
        <a:srgbClr val="5B7F6E"/>
      </a:folHlink>
    </a:clrScheme>
    <a:fontScheme name="Earnings Form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Earnings Formal">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1550</Words>
  <Application>Microsoft Office PowerPoint</Application>
  <DocSecurity>0</DocSecurity>
  <PresentationFormat>Custom</PresentationFormat>
  <Paragraphs>181</Paragraphs>
  <Slides>11</Slides>
  <Notes>11</Notes>
  <HiddenSlides>0</HiddenSlides>
  <MMClips>0</MMClips>
  <ScaleCrop>false</ScaleCrop>
  <HeadingPairs>
    <vt:vector size="4" baseType="variant">
      <vt:variant>
        <vt:lpstr>Theme</vt:lpstr>
      </vt:variant>
      <vt:variant>
        <vt:i4>1</vt:i4>
      </vt:variant>
      <vt:variant>
        <vt:lpstr>Slide Titles</vt:lpstr>
      </vt:variant>
      <vt:variant>
        <vt:i4>11</vt:i4>
      </vt:variant>
    </vt:vector>
  </HeadingPairs>
  <TitlesOfParts>
    <vt:vector size="12" baseType="lpstr">
      <vt:lpstr>Earnings Formal</vt:lpstr>
      <vt:lpstr>PowerPoint Presentation</vt:lpstr>
      <vt:lpstr>Executive summary: earnings are dispersed and peak late in the working life</vt:lpstr>
      <vt:lpstr>Data and sample: a weighted subset of the PSLM 2019-20 survey</vt:lpstr>
      <vt:lpstr>Half of earners make under Rs 240,000; the top tenth make Rs 660,000 or more</vt:lpstr>
      <vt:lpstr>Data quality: reported earnings are rounded and carry a few extreme values</vt:lpstr>
      <vt:lpstr>Mean earnings rise with age, plateau after 50, and peak at ages 55 to 59</vt:lpstr>
      <vt:lpstr>Band table: every age band is supported by at least 130 earners</vt:lpstr>
      <vt:lpstr>Method: survey weights and deliberate design choices</vt:lpstr>
      <vt:lpstr>Validation: the results are identical in R and Python, to the rupee</vt:lpstr>
      <vt:lpstr>Limitations: how far the evidence can be read</vt:lpstr>
      <vt:lpstr>Conclusions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Dr Asim</cp:lastModifiedBy>
  <cp:revision>1</cp:revision>
  <dcterms:created xsi:type="dcterms:W3CDTF">2026-10-21T18:12:34Z</dcterms:created>
  <dcterms:modified xsi:type="dcterms:W3CDTF">2026-10-22T03:40:53Z</dcterms:modified>
</cp:coreProperties>
</file>